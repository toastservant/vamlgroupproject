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notesSlides/notesSlide14.xml" ContentType="application/vnd.openxmlformats-officedocument.presentationml.notesSlide+xml"/>
  <Override PartName="/ppt/tags/tag11.xml" ContentType="application/vnd.openxmlformats-officedocument.presentationml.tags+xml"/>
  <Override PartName="/ppt/notesSlides/notesSlide15.xml" ContentType="application/vnd.openxmlformats-officedocument.presentationml.notesSlide+xml"/>
  <Override PartName="/ppt/tags/tag12.xml" ContentType="application/vnd.openxmlformats-officedocument.presentationml.tags+xml"/>
  <Override PartName="/ppt/notesSlides/notesSlide16.xml" ContentType="application/vnd.openxmlformats-officedocument.presentationml.notesSlide+xml"/>
  <Override PartName="/ppt/tags/tag13.xml" ContentType="application/vnd.openxmlformats-officedocument.presentationml.tags+xml"/>
  <Override PartName="/ppt/notesSlides/notesSlide17.xml" ContentType="application/vnd.openxmlformats-officedocument.presentationml.notesSlide+xml"/>
  <Override PartName="/ppt/tags/tag14.xml" ContentType="application/vnd.openxmlformats-officedocument.presentationml.tags+xml"/>
  <Override PartName="/ppt/notesSlides/notesSlide18.xml" ContentType="application/vnd.openxmlformats-officedocument.presentationml.notesSlide+xml"/>
  <Override PartName="/ppt/tags/tag15.xml" ContentType="application/vnd.openxmlformats-officedocument.presentationml.tags+xml"/>
  <Override PartName="/ppt/notesSlides/notesSlide19.xml" ContentType="application/vnd.openxmlformats-officedocument.presentationml.notesSlide+xml"/>
  <Override PartName="/ppt/tags/tag16.xml" ContentType="application/vnd.openxmlformats-officedocument.presentationml.tags+xml"/>
  <Override PartName="/ppt/notesSlides/notesSlide20.xml" ContentType="application/vnd.openxmlformats-officedocument.presentationml.notesSlide+xml"/>
  <Override PartName="/ppt/tags/tag17.xml" ContentType="application/vnd.openxmlformats-officedocument.presentationml.tags+xml"/>
  <Override PartName="/ppt/notesSlides/notesSlide21.xml" ContentType="application/vnd.openxmlformats-officedocument.presentationml.notesSlide+xml"/>
  <Override PartName="/ppt/tags/tag18.xml" ContentType="application/vnd.openxmlformats-officedocument.presentationml.tags+xml"/>
  <Override PartName="/ppt/notesSlides/notesSlide22.xml" ContentType="application/vnd.openxmlformats-officedocument.presentationml.notesSlide+xml"/>
  <Override PartName="/ppt/tags/tag1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6" r:id="rId3"/>
    <p:sldId id="267" r:id="rId4"/>
    <p:sldId id="265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85" r:id="rId14"/>
    <p:sldId id="276" r:id="rId15"/>
    <p:sldId id="284" r:id="rId16"/>
    <p:sldId id="277" r:id="rId17"/>
    <p:sldId id="278" r:id="rId18"/>
    <p:sldId id="279" r:id="rId19"/>
    <p:sldId id="280" r:id="rId20"/>
    <p:sldId id="281" r:id="rId21"/>
    <p:sldId id="282" r:id="rId22"/>
    <p:sldId id="283" r:id="rId23"/>
  </p:sldIdLst>
  <p:sldSz cx="9144000" cy="6858000" type="screen4x3"/>
  <p:notesSz cx="6797675" cy="9928225"/>
  <p:custDataLst>
    <p:tags r:id="rId2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47"/>
    <a:srgbClr val="E31D43"/>
    <a:srgbClr val="262626"/>
    <a:srgbClr val="595959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A167D3-64A5-4FAF-A5D6-95A5CC30A2DD}" v="25" dt="2025-10-23T23:19:55.610"/>
  </p1510:revLst>
</p1510:revInfo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2040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s Martinez del Rincon" userId="d795cc91-5760-4740-9394-1f55202644f2" providerId="ADAL" clId="{9A9C9DC9-4E85-434B-ACED-2A75FA648806}"/>
    <pc:docChg chg="undo custSel modSld">
      <pc:chgData name="Jesus Martinez del Rincon" userId="d795cc91-5760-4740-9394-1f55202644f2" providerId="ADAL" clId="{9A9C9DC9-4E85-434B-ACED-2A75FA648806}" dt="2025-10-23T23:20:09.614" v="73" actId="1076"/>
      <pc:docMkLst>
        <pc:docMk/>
      </pc:docMkLst>
      <pc:sldChg chg="modSp">
        <pc:chgData name="Jesus Martinez del Rincon" userId="d795cc91-5760-4740-9394-1f55202644f2" providerId="ADAL" clId="{9A9C9DC9-4E85-434B-ACED-2A75FA648806}" dt="2025-10-23T23:14:16.230" v="22" actId="6549"/>
        <pc:sldMkLst>
          <pc:docMk/>
          <pc:sldMk cId="215721563" sldId="269"/>
        </pc:sldMkLst>
        <pc:spChg chg="mod">
          <ac:chgData name="Jesus Martinez del Rincon" userId="d795cc91-5760-4740-9394-1f55202644f2" providerId="ADAL" clId="{9A9C9DC9-4E85-434B-ACED-2A75FA648806}" dt="2025-10-23T23:14:16.230" v="22" actId="6549"/>
          <ac:spMkLst>
            <pc:docMk/>
            <pc:sldMk cId="215721563" sldId="269"/>
            <ac:spMk id="108547" creationId="{00000000-0000-0000-0000-000000000000}"/>
          </ac:spMkLst>
        </pc:spChg>
      </pc:sldChg>
      <pc:sldChg chg="modSp mod">
        <pc:chgData name="Jesus Martinez del Rincon" userId="d795cc91-5760-4740-9394-1f55202644f2" providerId="ADAL" clId="{9A9C9DC9-4E85-434B-ACED-2A75FA648806}" dt="2025-10-23T23:16:09.778" v="29" actId="20577"/>
        <pc:sldMkLst>
          <pc:docMk/>
          <pc:sldMk cId="4180554103" sldId="272"/>
        </pc:sldMkLst>
        <pc:spChg chg="mod">
          <ac:chgData name="Jesus Martinez del Rincon" userId="d795cc91-5760-4740-9394-1f55202644f2" providerId="ADAL" clId="{9A9C9DC9-4E85-434B-ACED-2A75FA648806}" dt="2025-10-23T23:16:09.778" v="29" actId="20577"/>
          <ac:spMkLst>
            <pc:docMk/>
            <pc:sldMk cId="4180554103" sldId="272"/>
            <ac:spMk id="3" creationId="{00000000-0000-0000-0000-000000000000}"/>
          </ac:spMkLst>
        </pc:spChg>
      </pc:sldChg>
      <pc:sldChg chg="modSp mod">
        <pc:chgData name="Jesus Martinez del Rincon" userId="d795cc91-5760-4740-9394-1f55202644f2" providerId="ADAL" clId="{9A9C9DC9-4E85-434B-ACED-2A75FA648806}" dt="2025-10-23T23:17:34.762" v="30" actId="313"/>
        <pc:sldMkLst>
          <pc:docMk/>
          <pc:sldMk cId="3156432283" sldId="274"/>
        </pc:sldMkLst>
        <pc:spChg chg="mod">
          <ac:chgData name="Jesus Martinez del Rincon" userId="d795cc91-5760-4740-9394-1f55202644f2" providerId="ADAL" clId="{9A9C9DC9-4E85-434B-ACED-2A75FA648806}" dt="2025-10-23T23:17:34.762" v="30" actId="313"/>
          <ac:spMkLst>
            <pc:docMk/>
            <pc:sldMk cId="3156432283" sldId="274"/>
            <ac:spMk id="3" creationId="{00000000-0000-0000-0000-000000000000}"/>
          </ac:spMkLst>
        </pc:spChg>
      </pc:sldChg>
      <pc:sldChg chg="addSp modSp mod">
        <pc:chgData name="Jesus Martinez del Rincon" userId="d795cc91-5760-4740-9394-1f55202644f2" providerId="ADAL" clId="{9A9C9DC9-4E85-434B-ACED-2A75FA648806}" dt="2025-10-23T23:20:09.614" v="73" actId="1076"/>
        <pc:sldMkLst>
          <pc:docMk/>
          <pc:sldMk cId="3149206106" sldId="277"/>
        </pc:sldMkLst>
        <pc:spChg chg="mod">
          <ac:chgData name="Jesus Martinez del Rincon" userId="d795cc91-5760-4740-9394-1f55202644f2" providerId="ADAL" clId="{9A9C9DC9-4E85-434B-ACED-2A75FA648806}" dt="2025-10-23T23:19:35.186" v="53" actId="20577"/>
          <ac:spMkLst>
            <pc:docMk/>
            <pc:sldMk cId="3149206106" sldId="277"/>
            <ac:spMk id="3" creationId="{00000000-0000-0000-0000-000000000000}"/>
          </ac:spMkLst>
        </pc:spChg>
        <pc:spChg chg="mod">
          <ac:chgData name="Jesus Martinez del Rincon" userId="d795cc91-5760-4740-9394-1f55202644f2" providerId="ADAL" clId="{9A9C9DC9-4E85-434B-ACED-2A75FA648806}" dt="2025-10-23T23:19:43.062" v="54" actId="14100"/>
          <ac:spMkLst>
            <pc:docMk/>
            <pc:sldMk cId="3149206106" sldId="277"/>
            <ac:spMk id="4" creationId="{00000000-0000-0000-0000-000000000000}"/>
          </ac:spMkLst>
        </pc:spChg>
        <pc:spChg chg="mod">
          <ac:chgData name="Jesus Martinez del Rincon" userId="d795cc91-5760-4740-9394-1f55202644f2" providerId="ADAL" clId="{9A9C9DC9-4E85-434B-ACED-2A75FA648806}" dt="2025-10-23T23:19:45.302" v="55" actId="1076"/>
          <ac:spMkLst>
            <pc:docMk/>
            <pc:sldMk cId="3149206106" sldId="277"/>
            <ac:spMk id="5" creationId="{00000000-0000-0000-0000-000000000000}"/>
          </ac:spMkLst>
        </pc:spChg>
        <pc:spChg chg="add mod">
          <ac:chgData name="Jesus Martinez del Rincon" userId="d795cc91-5760-4740-9394-1f55202644f2" providerId="ADAL" clId="{9A9C9DC9-4E85-434B-ACED-2A75FA648806}" dt="2025-10-23T23:20:09.614" v="73" actId="1076"/>
          <ac:spMkLst>
            <pc:docMk/>
            <pc:sldMk cId="3149206106" sldId="277"/>
            <ac:spMk id="6" creationId="{39ED26C5-DD1F-CF7C-B28C-3986A1F98018}"/>
          </ac:spMkLst>
        </pc:spChg>
        <pc:spChg chg="add mod">
          <ac:chgData name="Jesus Martinez del Rincon" userId="d795cc91-5760-4740-9394-1f55202644f2" providerId="ADAL" clId="{9A9C9DC9-4E85-434B-ACED-2A75FA648806}" dt="2025-10-23T23:20:09.614" v="73" actId="1076"/>
          <ac:spMkLst>
            <pc:docMk/>
            <pc:sldMk cId="3149206106" sldId="277"/>
            <ac:spMk id="7" creationId="{9E1245E1-9327-C3CB-6D89-082FEA57E9CC}"/>
          </ac:spMkLst>
        </pc:spChg>
        <pc:spChg chg="add mod">
          <ac:chgData name="Jesus Martinez del Rincon" userId="d795cc91-5760-4740-9394-1f55202644f2" providerId="ADAL" clId="{9A9C9DC9-4E85-434B-ACED-2A75FA648806}" dt="2025-10-23T23:20:09.614" v="73" actId="1076"/>
          <ac:spMkLst>
            <pc:docMk/>
            <pc:sldMk cId="3149206106" sldId="277"/>
            <ac:spMk id="8" creationId="{D82995E0-59FE-769D-7E06-E52B559AB500}"/>
          </ac:spMkLst>
        </pc:spChg>
        <pc:spChg chg="add mod">
          <ac:chgData name="Jesus Martinez del Rincon" userId="d795cc91-5760-4740-9394-1f55202644f2" providerId="ADAL" clId="{9A9C9DC9-4E85-434B-ACED-2A75FA648806}" dt="2025-10-23T23:20:09.614" v="73" actId="1076"/>
          <ac:spMkLst>
            <pc:docMk/>
            <pc:sldMk cId="3149206106" sldId="277"/>
            <ac:spMk id="9" creationId="{0325FFBC-CFD5-9E17-E10F-DE437858C9CA}"/>
          </ac:spMkLst>
        </pc:spChg>
      </pc:sldChg>
      <pc:sldChg chg="modSp mod">
        <pc:chgData name="Jesus Martinez del Rincon" userId="d795cc91-5760-4740-9394-1f55202644f2" providerId="ADAL" clId="{9A9C9DC9-4E85-434B-ACED-2A75FA648806}" dt="2025-10-23T23:18:39.052" v="32" actId="20577"/>
        <pc:sldMkLst>
          <pc:docMk/>
          <pc:sldMk cId="3868790665" sldId="284"/>
        </pc:sldMkLst>
        <pc:spChg chg="mod">
          <ac:chgData name="Jesus Martinez del Rincon" userId="d795cc91-5760-4740-9394-1f55202644f2" providerId="ADAL" clId="{9A9C9DC9-4E85-434B-ACED-2A75FA648806}" dt="2025-10-23T23:18:39.052" v="32" actId="20577"/>
          <ac:spMkLst>
            <pc:docMk/>
            <pc:sldMk cId="3868790665" sldId="284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595959"/>
                </a:solidFill>
                <a:latin typeface="Calibri" pitchFamily="-1" charset="0"/>
                <a:cs typeface="Arial" charset="0"/>
              </a:defRPr>
            </a:lvl1pPr>
          </a:lstStyle>
          <a:p>
            <a:pPr>
              <a:defRPr/>
            </a:pPr>
            <a:fld id="{FCE2CC7E-598D-4AAE-835F-480D1BED1BD2}" type="datetime1">
              <a:rPr lang="en-US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595959"/>
                </a:solidFill>
                <a:latin typeface="Calibri" pitchFamily="34" charset="0"/>
              </a:defRPr>
            </a:lvl1pPr>
          </a:lstStyle>
          <a:p>
            <a:fld id="{8D22A082-D154-4AC6-B915-F0813EE1D35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411572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-1" charset="0"/>
                <a:cs typeface="Arial" charset="0"/>
              </a:defRPr>
            </a:lvl1pPr>
          </a:lstStyle>
          <a:p>
            <a:pPr>
              <a:defRPr/>
            </a:pPr>
            <a:fld id="{0A85E2D1-43D6-4614-944F-8F895CECBDB7}" type="datetime1">
              <a:rPr lang="en-US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fld id="{8F5017E2-AE77-45E3-8F8F-31DA72B1D80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4834798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anose="020B0600070205080204" pitchFamily="34" charset="-128"/>
        <a:cs typeface="MS PGothic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anose="020B0600070205080204" pitchFamily="34" charset="-128"/>
        <a:cs typeface="MS PGothic" pitchFamily="34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anose="020B0600070205080204" pitchFamily="34" charset="-128"/>
        <a:cs typeface="MS PGothic" pitchFamily="34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anose="020B0600070205080204" pitchFamily="34" charset="-128"/>
        <a:cs typeface="MS PGothic" pitchFamily="34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anose="020B0600070205080204" pitchFamily="34" charset="-128"/>
        <a:cs typeface="MS PGothic" pitchFamily="34" charset="-12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4466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38347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38347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354C118-6A98-49D1-AAE9-2458ABD9530A}" type="slidenum">
              <a:rPr lang="en-GB" sz="1200" smtClean="0"/>
              <a:pPr/>
              <a:t>4</a:t>
            </a:fld>
            <a:endParaRPr lang="en-GB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474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1184B28-D9FB-4B54-AF79-1DFF6653AF81}" type="slidenum">
              <a:rPr lang="en-GB" sz="1200" smtClean="0"/>
              <a:pPr/>
              <a:t>5</a:t>
            </a:fld>
            <a:endParaRPr lang="en-GB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  <p:custDataLst>
              <p:tags r:id="rId1"/>
            </p:custDataLst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045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205A73C-D26F-4EBA-9919-357828D701AB}" type="slidenum">
              <a:rPr lang="en-GB" sz="1200" smtClean="0"/>
              <a:pPr/>
              <a:t>6</a:t>
            </a:fld>
            <a:endParaRPr lang="en-GB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  <p:custDataLst>
              <p:tags r:id="rId1"/>
            </p:custDataLst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06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7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0936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8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698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9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3881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10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9638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11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35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12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2983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13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8107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14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81074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15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6716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16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67164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17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8552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18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92372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354C118-6A98-49D1-AAE9-2458ABD9530A}" type="slidenum">
              <a:rPr lang="en-GB" sz="1200" smtClean="0"/>
              <a:pPr/>
              <a:t>19</a:t>
            </a:fld>
            <a:endParaRPr lang="en-GB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  <p:custDataLst>
              <p:tags r:id="rId1"/>
            </p:custDataLst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5852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354C118-6A98-49D1-AAE9-2458ABD9530A}" type="slidenum">
              <a:rPr lang="en-GB" sz="1200" smtClean="0"/>
              <a:pPr/>
              <a:t>20</a:t>
            </a:fld>
            <a:endParaRPr lang="en-GB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  <p:custDataLst>
              <p:tags r:id="rId1"/>
            </p:custDataLst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2453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354C118-6A98-49D1-AAE9-2458ABD9530A}" type="slidenum">
              <a:rPr lang="en-GB" sz="1200" smtClean="0"/>
              <a:pPr/>
              <a:t>21</a:t>
            </a:fld>
            <a:endParaRPr lang="en-GB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  <p:custDataLst>
              <p:tags r:id="rId1"/>
            </p:custDataLst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2515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CBL7012 - Multimedia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0A85E2D1-43D6-4614-944F-8F895CECBDB7}" type="datetime1">
              <a:rPr lang="en-US" smtClean="0"/>
              <a:pPr>
                <a:defRPr/>
              </a:pPr>
              <a:t>10/24/2025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5017E2-AE77-45E3-8F8F-31DA72B1D804}" type="slidenum">
              <a:rPr lang="en-GB" altLang="en-US" smtClean="0"/>
              <a:pPr/>
              <a:t>22</a:t>
            </a:fld>
            <a:endParaRPr lang="en-GB" altLang="en-US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4026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0080" y="2130425"/>
            <a:ext cx="7772400" cy="1470025"/>
          </a:xfrm>
          <a:noFill/>
        </p:spPr>
        <p:txBody>
          <a:bodyPr/>
          <a:lstStyle>
            <a:lvl1pPr algn="ctr">
              <a:defRPr>
                <a:solidFill>
                  <a:srgbClr val="06443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7112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3986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00113" y="1125538"/>
            <a:ext cx="8243887" cy="0"/>
          </a:xfrm>
          <a:prstGeom prst="line">
            <a:avLst/>
          </a:prstGeom>
          <a:ln w="57150" cmpd="sng">
            <a:solidFill>
              <a:srgbClr val="99D2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32" y="144250"/>
            <a:ext cx="7704856" cy="9084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1" y="1196752"/>
            <a:ext cx="7704855" cy="4896544"/>
          </a:xfrm>
        </p:spPr>
        <p:txBody>
          <a:bodyPr/>
          <a:lstStyle>
            <a:lvl1pPr marL="342900" indent="-342900">
              <a:buClr>
                <a:srgbClr val="99D237"/>
              </a:buClr>
              <a:buSzPct val="200000"/>
              <a:buFont typeface="Arial" pitchFamily="34" charset="0"/>
              <a:buChar char="•"/>
              <a:defRPr/>
            </a:lvl1pPr>
            <a:lvl2pPr marL="914400" indent="-457200">
              <a:buClr>
                <a:srgbClr val="99D237"/>
              </a:buClr>
              <a:buSzPct val="200000"/>
              <a:buFont typeface="Arial" pitchFamily="34" charset="0"/>
              <a:buChar char="•"/>
              <a:defRPr/>
            </a:lvl2pPr>
            <a:lvl3pPr marL="1257300" indent="-342900">
              <a:buClr>
                <a:srgbClr val="99D237"/>
              </a:buClr>
              <a:buSzPct val="200000"/>
              <a:buFont typeface="Arial" pitchFamily="34" charset="0"/>
              <a:buChar char="•"/>
              <a:defRPr/>
            </a:lvl3pPr>
            <a:lvl4pPr marL="1714500" indent="-342900">
              <a:buClr>
                <a:srgbClr val="99D237"/>
              </a:buClr>
              <a:buSzPct val="200000"/>
              <a:buFont typeface="Arial" pitchFamily="34" charset="0"/>
              <a:buChar char="•"/>
              <a:defRPr/>
            </a:lvl4pPr>
            <a:lvl5pPr marL="2171700" indent="-342900">
              <a:buClr>
                <a:srgbClr val="99D237"/>
              </a:buClr>
              <a:buSzPct val="200000"/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8190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892" y="394079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0892" y="2440612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7310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03648" y="1340768"/>
            <a:ext cx="3600400" cy="4680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0292" y="1340768"/>
            <a:ext cx="3804196" cy="4680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085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3648" y="1268760"/>
            <a:ext cx="3744416" cy="576146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03648" y="1916833"/>
            <a:ext cx="3744416" cy="41044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63008" y="1268760"/>
            <a:ext cx="3703064" cy="576146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64471" y="1916832"/>
            <a:ext cx="3700017" cy="41044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963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819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14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/>
          <p:cNvGrpSpPr>
            <a:grpSpLocks/>
          </p:cNvGrpSpPr>
          <p:nvPr userDrawn="1"/>
        </p:nvGrpSpPr>
        <p:grpSpPr bwMode="auto">
          <a:xfrm>
            <a:off x="1588" y="0"/>
            <a:ext cx="9142412" cy="115888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903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066" y="1577847"/>
              <a:ext cx="2743129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706" y="1577847"/>
              <a:ext cx="4233830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260648"/>
            <a:ext cx="3096344" cy="70767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5976" y="260648"/>
            <a:ext cx="4536504" cy="568863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87624" y="1040334"/>
            <a:ext cx="3096344" cy="489654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297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286375"/>
            <a:ext cx="9144000" cy="14684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rIns="182880" bIns="365760" anchor="b">
            <a:normAutofit/>
          </a:bodyPr>
          <a:lstStyle/>
          <a:p>
            <a:pPr eaLnBrk="1" hangingPunct="1">
              <a:defRPr/>
            </a:pPr>
            <a:endParaRPr sz="4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6" name="Group 8"/>
          <p:cNvGrpSpPr>
            <a:grpSpLocks/>
          </p:cNvGrpSpPr>
          <p:nvPr userDrawn="1"/>
        </p:nvGrpSpPr>
        <p:grpSpPr bwMode="auto">
          <a:xfrm>
            <a:off x="0" y="6746875"/>
            <a:ext cx="9144000" cy="111125"/>
            <a:chOff x="284163" y="1759424"/>
            <a:chExt cx="8576373" cy="137411"/>
          </a:xfrm>
        </p:grpSpPr>
        <p:sp>
          <p:nvSpPr>
            <p:cNvPr id="7" name="Rectangle 6"/>
            <p:cNvSpPr/>
            <p:nvPr/>
          </p:nvSpPr>
          <p:spPr>
            <a:xfrm>
              <a:off x="284163" y="1759424"/>
              <a:ext cx="2744142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25327" y="1759424"/>
              <a:ext cx="1600625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4625952" y="1759424"/>
              <a:ext cx="4234584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7928" y="457768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37928" y="38985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7928" y="514441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0786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 userDrawn="1"/>
        </p:nvGrpSpPr>
        <p:grpSpPr bwMode="auto">
          <a:xfrm>
            <a:off x="0" y="979488"/>
            <a:ext cx="9144000" cy="136525"/>
            <a:chOff x="284163" y="1577847"/>
            <a:chExt cx="8576373" cy="137411"/>
          </a:xfrm>
        </p:grpSpPr>
        <p:sp>
          <p:nvSpPr>
            <p:cNvPr id="5" name="Rectangle 4"/>
            <p:cNvSpPr/>
            <p:nvPr/>
          </p:nvSpPr>
          <p:spPr>
            <a:xfrm>
              <a:off x="284163" y="1577847"/>
              <a:ext cx="1600626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1884789" y="1577847"/>
              <a:ext cx="2742653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4625952" y="1577847"/>
              <a:ext cx="4234584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03648" y="1340768"/>
            <a:ext cx="7560838" cy="46805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189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1478" y="418655"/>
            <a:ext cx="2057400" cy="54586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8" y="418655"/>
            <a:ext cx="5755470" cy="54586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0352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286375"/>
            <a:ext cx="9144000" cy="14684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rIns="182880" bIns="365760" anchor="b">
            <a:normAutofit/>
          </a:bodyPr>
          <a:lstStyle/>
          <a:p>
            <a:pPr eaLnBrk="1" hangingPunct="1">
              <a:defRPr/>
            </a:pPr>
            <a:endParaRPr sz="4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6" name="Group 8"/>
          <p:cNvGrpSpPr>
            <a:grpSpLocks/>
          </p:cNvGrpSpPr>
          <p:nvPr userDrawn="1"/>
        </p:nvGrpSpPr>
        <p:grpSpPr bwMode="auto">
          <a:xfrm>
            <a:off x="0" y="6746875"/>
            <a:ext cx="9144000" cy="111125"/>
            <a:chOff x="284163" y="1759424"/>
            <a:chExt cx="8576373" cy="137411"/>
          </a:xfrm>
        </p:grpSpPr>
        <p:sp>
          <p:nvSpPr>
            <p:cNvPr id="7" name="Rectangle 6"/>
            <p:cNvSpPr/>
            <p:nvPr/>
          </p:nvSpPr>
          <p:spPr>
            <a:xfrm>
              <a:off x="284163" y="1759424"/>
              <a:ext cx="2744142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25327" y="1759424"/>
              <a:ext cx="1600625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4625952" y="1759424"/>
              <a:ext cx="4234584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</p:grp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8521700" y="5286375"/>
            <a:ext cx="58737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3600">
                <a:solidFill>
                  <a:schemeClr val="bg1"/>
                </a:solidFill>
                <a:sym typeface="Wingdings" pitchFamily="-1" charset="2"/>
              </a:rPr>
              <a:t>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713438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191325" y="6345888"/>
            <a:ext cx="7735824" cy="402336"/>
          </a:xfrm>
        </p:spPr>
        <p:txBody>
          <a:bodyPr rtlCol="0">
            <a:normAutofit/>
          </a:bodyPr>
          <a:lstStyle>
            <a:lvl1pPr marL="0" indent="0"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60" y="5296945"/>
            <a:ext cx="7772400" cy="1048871"/>
          </a:xfrm>
          <a:noFill/>
        </p:spPr>
        <p:txBody>
          <a:bodyPr anchor="b"/>
          <a:lstStyle>
            <a:lvl1pPr algn="l">
              <a:defRPr sz="42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9043630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seeecs-logo-trans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288" y="5994400"/>
            <a:ext cx="277971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7"/>
          <p:cNvGrpSpPr>
            <a:grpSpLocks/>
          </p:cNvGrpSpPr>
          <p:nvPr userDrawn="1"/>
        </p:nvGrpSpPr>
        <p:grpSpPr bwMode="auto">
          <a:xfrm>
            <a:off x="0" y="979488"/>
            <a:ext cx="9144000" cy="136525"/>
            <a:chOff x="284163" y="1577847"/>
            <a:chExt cx="8576373" cy="137411"/>
          </a:xfrm>
        </p:grpSpPr>
        <p:sp>
          <p:nvSpPr>
            <p:cNvPr id="7" name="Rectangle 6"/>
            <p:cNvSpPr/>
            <p:nvPr/>
          </p:nvSpPr>
          <p:spPr>
            <a:xfrm>
              <a:off x="284163" y="1577847"/>
              <a:ext cx="1600626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884789" y="1577847"/>
              <a:ext cx="2742653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4625952" y="1577847"/>
              <a:ext cx="4234584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1268761"/>
            <a:ext cx="3931920" cy="4725144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1268761"/>
            <a:ext cx="3931920" cy="4725144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0" y="8128"/>
            <a:ext cx="9143999" cy="968375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6514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>
            <a:grpSpLocks/>
          </p:cNvGrpSpPr>
          <p:nvPr userDrawn="1"/>
        </p:nvGrpSpPr>
        <p:grpSpPr bwMode="auto">
          <a:xfrm>
            <a:off x="0" y="971550"/>
            <a:ext cx="9144000" cy="136525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626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4789" y="1577847"/>
              <a:ext cx="2742653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5952" y="1577847"/>
              <a:ext cx="4234584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268760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ts val="32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276872"/>
            <a:ext cx="3931920" cy="424847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268760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ts val="3200"/>
              </a:lnSpc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276872"/>
            <a:ext cx="3931920" cy="424847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0" y="234"/>
            <a:ext cx="9143999" cy="968375"/>
          </a:xfrm>
          <a:solidFill>
            <a:srgbClr val="595959"/>
          </a:solidFill>
        </p:spPr>
        <p:txBody>
          <a:bodyPr/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9649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"/>
          <p:cNvGrpSpPr>
            <a:grpSpLocks/>
          </p:cNvGrpSpPr>
          <p:nvPr userDrawn="1"/>
        </p:nvGrpSpPr>
        <p:grpSpPr bwMode="auto">
          <a:xfrm>
            <a:off x="0" y="971550"/>
            <a:ext cx="9144000" cy="136525"/>
            <a:chOff x="284163" y="1577847"/>
            <a:chExt cx="8576373" cy="137411"/>
          </a:xfrm>
        </p:grpSpPr>
        <p:sp>
          <p:nvSpPr>
            <p:cNvPr id="4" name="Rectangle 3"/>
            <p:cNvSpPr/>
            <p:nvPr/>
          </p:nvSpPr>
          <p:spPr>
            <a:xfrm>
              <a:off x="284163" y="1577847"/>
              <a:ext cx="1600626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5" name="Rectangle 4"/>
            <p:cNvSpPr/>
            <p:nvPr/>
          </p:nvSpPr>
          <p:spPr>
            <a:xfrm>
              <a:off x="1884789" y="1577847"/>
              <a:ext cx="2742653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4625952" y="1577847"/>
              <a:ext cx="4234584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</p:grp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234"/>
            <a:ext cx="9143999" cy="968375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2399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286375"/>
            <a:ext cx="9144000" cy="14684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rIns="182880" bIns="365760" anchor="b">
            <a:normAutofit/>
          </a:bodyPr>
          <a:lstStyle/>
          <a:p>
            <a:pPr eaLnBrk="1" hangingPunct="1">
              <a:defRPr/>
            </a:pPr>
            <a:endParaRPr sz="4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6" name="Group 8"/>
          <p:cNvGrpSpPr>
            <a:grpSpLocks/>
          </p:cNvGrpSpPr>
          <p:nvPr userDrawn="1"/>
        </p:nvGrpSpPr>
        <p:grpSpPr bwMode="auto">
          <a:xfrm>
            <a:off x="0" y="6746875"/>
            <a:ext cx="9144000" cy="111125"/>
            <a:chOff x="284163" y="1759424"/>
            <a:chExt cx="8576373" cy="137411"/>
          </a:xfrm>
        </p:grpSpPr>
        <p:sp>
          <p:nvSpPr>
            <p:cNvPr id="7" name="Rectangle 6"/>
            <p:cNvSpPr/>
            <p:nvPr/>
          </p:nvSpPr>
          <p:spPr>
            <a:xfrm>
              <a:off x="284163" y="1759424"/>
              <a:ext cx="2744142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25327" y="1759424"/>
              <a:ext cx="1600625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4625952" y="1759424"/>
              <a:ext cx="4234584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627986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512" y="5877272"/>
            <a:ext cx="8352928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98" y="5301208"/>
            <a:ext cx="8360242" cy="566738"/>
          </a:xfrm>
          <a:noFill/>
        </p:spPr>
        <p:txBody>
          <a:bodyPr anchor="b"/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2897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 userDrawn="1"/>
        </p:nvGrpSpPr>
        <p:grpSpPr bwMode="auto">
          <a:xfrm>
            <a:off x="0" y="979488"/>
            <a:ext cx="9144000" cy="136525"/>
            <a:chOff x="284163" y="1577847"/>
            <a:chExt cx="8576373" cy="137411"/>
          </a:xfrm>
        </p:grpSpPr>
        <p:sp>
          <p:nvSpPr>
            <p:cNvPr id="5" name="Rectangle 4"/>
            <p:cNvSpPr/>
            <p:nvPr/>
          </p:nvSpPr>
          <p:spPr>
            <a:xfrm>
              <a:off x="284163" y="1577847"/>
              <a:ext cx="1600626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1884789" y="1577847"/>
              <a:ext cx="2742653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4625952" y="1577847"/>
              <a:ext cx="4234584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/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1268760"/>
            <a:ext cx="8574087" cy="4878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0" y="8128"/>
            <a:ext cx="9143999" cy="968375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9808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8089015-D4EF-45D7-AB90-8324C2901DC3}" type="datetime1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96000"/>
            <a:ext cx="4038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315200" y="6248400"/>
            <a:ext cx="1143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19A17E5-9DFC-4718-8234-209BD13CFC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097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80F31C7-3210-4910-BB9B-6EA3C350C7E9}" type="datetime1">
              <a:rPr lang="en-US"/>
              <a:pPr/>
              <a:t>10/24/2025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7315200" y="6248400"/>
            <a:ext cx="1143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90422-19ED-48DB-934A-F4B1360023D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552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403350" y="269875"/>
            <a:ext cx="7561263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03350" y="1322388"/>
            <a:ext cx="7561263" cy="513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36512" y="-61913"/>
            <a:ext cx="901701" cy="6947297"/>
            <a:chOff x="1259632" y="-61913"/>
            <a:chExt cx="901701" cy="6947297"/>
          </a:xfrm>
        </p:grpSpPr>
        <p:pic>
          <p:nvPicPr>
            <p:cNvPr id="1028" name="Picture 3" descr="QUBSEECS_Logo.pn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632" y="-61913"/>
              <a:ext cx="901701" cy="6919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 descr="QUBSEECS_Logo.png"/>
            <p:cNvPicPr>
              <a:picLocks noChangeAspect="1"/>
            </p:cNvPicPr>
            <p:nvPr userDrawn="1"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274" b="31922"/>
            <a:stretch/>
          </p:blipFill>
          <p:spPr bwMode="auto">
            <a:xfrm>
              <a:off x="1259632" y="4961369"/>
              <a:ext cx="901701" cy="1924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3" descr="QUBSEECS_Logo.png"/>
            <p:cNvPicPr>
              <a:picLocks noChangeAspect="1"/>
            </p:cNvPicPr>
            <p:nvPr userDrawn="1"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527" b="31922"/>
            <a:stretch/>
          </p:blipFill>
          <p:spPr bwMode="auto">
            <a:xfrm>
              <a:off x="1259632" y="4509119"/>
              <a:ext cx="901701" cy="1076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2" descr="C:\Users\3047296\AppData\Local\Temp\Rar$DR06.978\QUB new logo set_Red\QueenÔÇÖs Red Logo - Landscape.png"/>
            <p:cNvPicPr>
              <a:picLocks noChangeAspect="1" noChangeArrowheads="1"/>
            </p:cNvPicPr>
            <p:nvPr userDrawn="1"/>
          </p:nvPicPr>
          <p:blipFill>
            <a:blip r:embed="rId22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609312" y="5314936"/>
              <a:ext cx="2202342" cy="7945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" name="Straight Connector 8"/>
          <p:cNvCxnSpPr/>
          <p:nvPr/>
        </p:nvCxnSpPr>
        <p:spPr>
          <a:xfrm>
            <a:off x="873471" y="-61913"/>
            <a:ext cx="0" cy="6985001"/>
          </a:xfrm>
          <a:prstGeom prst="line">
            <a:avLst/>
          </a:prstGeom>
          <a:ln w="57150">
            <a:solidFill>
              <a:srgbClr val="99D2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9" r:id="rId1"/>
    <p:sldLayoutId id="2147484450" r:id="rId2"/>
    <p:sldLayoutId id="2147484444" r:id="rId3"/>
    <p:sldLayoutId id="2147484445" r:id="rId4"/>
    <p:sldLayoutId id="2147484446" r:id="rId5"/>
    <p:sldLayoutId id="2147484447" r:id="rId6"/>
    <p:sldLayoutId id="2147484451" r:id="rId7"/>
    <p:sldLayoutId id="2147484452" r:id="rId8"/>
    <p:sldLayoutId id="2147484453" r:id="rId9"/>
    <p:sldLayoutId id="2147484454" r:id="rId10"/>
    <p:sldLayoutId id="2147484448" r:id="rId11"/>
    <p:sldLayoutId id="2147484455" r:id="rId12"/>
    <p:sldLayoutId id="2147484456" r:id="rId13"/>
    <p:sldLayoutId id="2147484457" r:id="rId14"/>
    <p:sldLayoutId id="2147484458" r:id="rId15"/>
    <p:sldLayoutId id="2147484459" r:id="rId16"/>
    <p:sldLayoutId id="2147484460" r:id="rId17"/>
    <p:sldLayoutId id="2147484461" r:id="rId18"/>
    <p:sldLayoutId id="2147484462" r:id="rId19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06443F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6443F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6443F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6443F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6443F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6443F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6443F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6443F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6443F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99D237"/>
        </a:buClr>
        <a:buSzPct val="200000"/>
        <a:buFont typeface="Arial" charset="0"/>
        <a:buChar char="•"/>
        <a:defRPr sz="2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99D237"/>
        </a:buClr>
        <a:buSzPct val="200000"/>
        <a:buFont typeface="Arial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99D237"/>
        </a:buClr>
        <a:buSzPct val="200000"/>
        <a:buFont typeface="Arial" charset="0"/>
        <a:buChar char="•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99D237"/>
        </a:buClr>
        <a:buSzPct val="200000"/>
        <a:buFont typeface="Arial" charset="0"/>
        <a:buChar char="•"/>
        <a:defRPr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99D237"/>
        </a:buClr>
        <a:buSzPct val="200000"/>
        <a:buFont typeface="Arial" charset="0"/>
        <a:buChar char="•"/>
        <a:defRPr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j.martinez-del-rincon@qub.ac.u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8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5.jpeg"/><Relationship Id="rId10" Type="http://schemas.openxmlformats.org/officeDocument/2006/relationships/image" Target="../media/image14.jpeg"/><Relationship Id="rId4" Type="http://schemas.openxmlformats.org/officeDocument/2006/relationships/image" Target="../media/image6.jpeg"/><Relationship Id="rId9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5655" y="538717"/>
            <a:ext cx="7128791" cy="1524000"/>
          </a:xfrm>
        </p:spPr>
        <p:txBody>
          <a:bodyPr>
            <a:normAutofit/>
          </a:bodyPr>
          <a:lstStyle/>
          <a:p>
            <a:r>
              <a:rPr lang="en-GB" dirty="0"/>
              <a:t>CSC3067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9" y="3356992"/>
            <a:ext cx="7054551" cy="2592288"/>
          </a:xfrm>
        </p:spPr>
        <p:txBody>
          <a:bodyPr>
            <a:normAutofit/>
          </a:bodyPr>
          <a:lstStyle/>
          <a:p>
            <a:pPr algn="l"/>
            <a:r>
              <a:rPr lang="en-GB" sz="1800" b="1" dirty="0"/>
              <a:t>		    Pedestrian Detection</a:t>
            </a:r>
          </a:p>
          <a:p>
            <a:pPr algn="r"/>
            <a:endParaRPr lang="en-GB" sz="1800" b="1" dirty="0"/>
          </a:p>
          <a:p>
            <a:pPr algn="r"/>
            <a:endParaRPr lang="en-GB" sz="1800" b="1" dirty="0"/>
          </a:p>
          <a:p>
            <a:pPr algn="r"/>
            <a:r>
              <a:rPr lang="en-GB" sz="1800" b="1" dirty="0"/>
              <a:t>Jesús Martínez del Rincón</a:t>
            </a:r>
          </a:p>
          <a:p>
            <a:pPr algn="r"/>
            <a:r>
              <a:rPr lang="en-GB" sz="1800" dirty="0"/>
              <a:t>j.martinez-del-rincon@qub.ac.uk</a:t>
            </a:r>
          </a:p>
          <a:p>
            <a:endParaRPr lang="en-GB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1475657" y="1499190"/>
            <a:ext cx="6840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Video Analytics and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3649" y="2060848"/>
            <a:ext cx="7128791" cy="6508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Group Assignment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547777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484784"/>
            <a:ext cx="8172399" cy="4968552"/>
          </a:xfrm>
        </p:spPr>
        <p:txBody>
          <a:bodyPr/>
          <a:lstStyle/>
          <a:p>
            <a:pPr marL="457200" lvl="0" indent="-457200">
              <a:buSzPct val="100000"/>
              <a:buFont typeface="+mj-lt"/>
              <a:buAutoNum type="arabicPeriod"/>
            </a:pPr>
            <a:r>
              <a:rPr lang="en-GB" sz="1800" dirty="0"/>
              <a:t>Explain when and how machine learning and computer vision is useful in industry, public institutions and research.</a:t>
            </a:r>
          </a:p>
          <a:p>
            <a:pPr marL="457200" lvl="0" indent="-457200">
              <a:buSzPct val="100000"/>
              <a:buFont typeface="+mj-lt"/>
              <a:buAutoNum type="arabicPeriod"/>
            </a:pPr>
            <a:endParaRPr lang="en-GB" sz="1800" dirty="0"/>
          </a:p>
          <a:p>
            <a:pPr marL="457200" lvl="0" indent="-457200">
              <a:buSzPct val="100000"/>
              <a:buFont typeface="+mj-lt"/>
              <a:buAutoNum type="arabicPeriod"/>
            </a:pPr>
            <a:r>
              <a:rPr lang="en-GB" sz="1800" dirty="0"/>
              <a:t>Know and apply a range of basic computer vision and machine learning techniques.</a:t>
            </a:r>
          </a:p>
          <a:p>
            <a:pPr marL="457200" lvl="0" indent="-457200">
              <a:buSzPct val="100000"/>
              <a:buFont typeface="+mj-lt"/>
              <a:buAutoNum type="arabicPeriod"/>
            </a:pPr>
            <a:endParaRPr lang="en-GB" sz="1800" dirty="0"/>
          </a:p>
          <a:p>
            <a:pPr marL="457200" lvl="0" indent="-457200">
              <a:buSzPct val="100000"/>
              <a:buFont typeface="+mj-lt"/>
              <a:buAutoNum type="arabicPeriod"/>
            </a:pPr>
            <a:r>
              <a:rPr lang="en-GB" sz="1800" dirty="0"/>
              <a:t>Demonstrate the ability to understand and describe the underlying mathematical framework behind these operations</a:t>
            </a:r>
          </a:p>
          <a:p>
            <a:pPr marL="457200" lvl="0" indent="-457200">
              <a:buSzPct val="100000"/>
              <a:buFont typeface="+mj-lt"/>
              <a:buAutoNum type="arabicPeriod"/>
            </a:pPr>
            <a:endParaRPr lang="en-GB" sz="1800" dirty="0"/>
          </a:p>
          <a:p>
            <a:pPr marL="457200" lvl="0" indent="-457200">
              <a:buSzPct val="100000"/>
              <a:buFont typeface="+mj-lt"/>
              <a:buAutoNum type="arabicPeriod"/>
            </a:pPr>
            <a:r>
              <a:rPr lang="en-GB" sz="1800" dirty="0"/>
              <a:t>Design and develop machine learning pipelines applied to computer vision applications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07959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484784"/>
            <a:ext cx="8172399" cy="5040560"/>
          </a:xfrm>
        </p:spPr>
        <p:txBody>
          <a:bodyPr/>
          <a:lstStyle/>
          <a:p>
            <a:pPr marL="457200" lvl="0" indent="-457200">
              <a:buSzPct val="100000"/>
              <a:buFont typeface="+mj-lt"/>
              <a:buAutoNum type="arabicPeriod" startAt="5"/>
            </a:pPr>
            <a:r>
              <a:rPr lang="en-GB" sz="1800" dirty="0"/>
              <a:t>Formulate and evaluate hypothesis</a:t>
            </a:r>
          </a:p>
          <a:p>
            <a:pPr marL="457200" lvl="0" indent="-457200">
              <a:buSzPct val="100000"/>
              <a:buFont typeface="+mj-lt"/>
              <a:buAutoNum type="arabicPeriod" startAt="5"/>
            </a:pPr>
            <a:endParaRPr lang="en-GB" sz="1800" dirty="0"/>
          </a:p>
          <a:p>
            <a:pPr marL="457200" lvl="0" indent="-457200">
              <a:buSzPct val="100000"/>
              <a:buFont typeface="+mj-lt"/>
              <a:buAutoNum type="arabicPeriod" startAt="5"/>
            </a:pPr>
            <a:r>
              <a:rPr lang="en-GB" sz="1800" dirty="0"/>
              <a:t>Evaluate the performance of proposed machine learning solutions  through rigorous experimentation</a:t>
            </a:r>
          </a:p>
          <a:p>
            <a:pPr marL="457200" lvl="0" indent="-457200">
              <a:buSzPct val="100000"/>
              <a:buFont typeface="+mj-lt"/>
              <a:buAutoNum type="arabicPeriod" startAt="5"/>
            </a:pPr>
            <a:endParaRPr lang="en-GB" sz="1800" dirty="0"/>
          </a:p>
          <a:p>
            <a:pPr marL="457200" lvl="0" indent="-457200">
              <a:buSzPct val="100000"/>
              <a:buFont typeface="+mj-lt"/>
              <a:buAutoNum type="arabicPeriod" startAt="5"/>
            </a:pPr>
            <a:r>
              <a:rPr lang="en-GB" sz="1800" dirty="0"/>
              <a:t>Analyse quantitative results and use them to refine initial solutions</a:t>
            </a:r>
          </a:p>
          <a:p>
            <a:pPr marL="457200" lvl="0" indent="-457200">
              <a:buSzPct val="100000"/>
              <a:buFont typeface="+mj-lt"/>
              <a:buAutoNum type="arabicPeriod" startAt="5"/>
            </a:pPr>
            <a:endParaRPr lang="en-GB" sz="1800" dirty="0"/>
          </a:p>
          <a:p>
            <a:pPr marL="457200" lvl="0" indent="-457200">
              <a:buSzPct val="100000"/>
              <a:buFont typeface="+mj-lt"/>
              <a:buAutoNum type="arabicPeriod" startAt="5"/>
            </a:pPr>
            <a:r>
              <a:rPr lang="en-GB" sz="1800" dirty="0"/>
              <a:t>Communicate finding effectively and in a convincing manner based on data, and compare proposed systems against existing solutions </a:t>
            </a:r>
            <a:endParaRPr lang="en-GB" sz="1600" dirty="0"/>
          </a:p>
          <a:p>
            <a:pPr>
              <a:buFont typeface="+mj-lt"/>
              <a:buAutoNum type="arabicPeriod" startAt="5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12431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- Coursework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1043609" y="1196752"/>
            <a:ext cx="7920878" cy="4896544"/>
          </a:xfrm>
        </p:spPr>
        <p:txBody>
          <a:bodyPr/>
          <a:lstStyle/>
          <a:p>
            <a:r>
              <a:rPr lang="en-GB" sz="2400" dirty="0"/>
              <a:t>Practical assignment (40%)</a:t>
            </a:r>
          </a:p>
          <a:p>
            <a:pPr lvl="1"/>
            <a:r>
              <a:rPr lang="en-GB" sz="1800" dirty="0"/>
              <a:t>More details on Week 6</a:t>
            </a:r>
          </a:p>
          <a:p>
            <a:pPr lvl="1"/>
            <a:r>
              <a:rPr lang="en-GB" sz="1800" dirty="0"/>
              <a:t>In groups of 3</a:t>
            </a:r>
          </a:p>
          <a:p>
            <a:pPr lvl="1"/>
            <a:r>
              <a:rPr lang="en-GB" sz="1800" dirty="0"/>
              <a:t>Learning outcomes 4 to 8</a:t>
            </a:r>
          </a:p>
          <a:p>
            <a:endParaRPr lang="en-GB" sz="2400" dirty="0"/>
          </a:p>
          <a:p>
            <a:r>
              <a:rPr lang="en-GB" sz="2400" dirty="0"/>
              <a:t>Must attain at least 40 % (24 marks) of total marks available in the coursework</a:t>
            </a:r>
          </a:p>
          <a:p>
            <a:endParaRPr lang="en-GB" sz="2400" dirty="0"/>
          </a:p>
        </p:txBody>
      </p:sp>
      <p:sp>
        <p:nvSpPr>
          <p:cNvPr id="2" name="Left Brace 1"/>
          <p:cNvSpPr/>
          <p:nvPr/>
        </p:nvSpPr>
        <p:spPr>
          <a:xfrm>
            <a:off x="5796136" y="1350060"/>
            <a:ext cx="288032" cy="926812"/>
          </a:xfrm>
          <a:prstGeom prst="leftBrac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6012160" y="134076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10% </a:t>
            </a:r>
            <a:r>
              <a:rPr lang="en-GB" sz="1200" dirty="0"/>
              <a:t>Initial baseline system  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6012160" y="1875602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30%  </a:t>
            </a:r>
            <a:r>
              <a:rPr lang="en-GB" sz="1200" dirty="0"/>
              <a:t>Final report and code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4120" y="1854116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Week 11</a:t>
            </a:r>
            <a:endParaRPr lang="en-GB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8100392" y="1359588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Week 9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0447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 bldLvl="2" autoUpdateAnimBg="0"/>
      <p:bldP spid="2" grpId="0" animBg="1"/>
      <p:bldP spid="3" grpId="0"/>
      <p:bldP spid="6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Critical Analysis</a:t>
            </a:r>
          </a:p>
        </p:txBody>
      </p:sp>
      <p:sp>
        <p:nvSpPr>
          <p:cNvPr id="111627" name="Rectangle 11"/>
          <p:cNvSpPr>
            <a:spLocks noGrp="1" noChangeArrowheads="1"/>
          </p:cNvSpPr>
          <p:nvPr>
            <p:ph idx="1"/>
          </p:nvPr>
        </p:nvSpPr>
        <p:spPr>
          <a:xfrm>
            <a:off x="952560" y="1196752"/>
            <a:ext cx="8172400" cy="46445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Justify every single decision based on objective data and reasoning</a:t>
            </a:r>
          </a:p>
          <a:p>
            <a:pPr>
              <a:lnSpc>
                <a:spcPct val="90000"/>
              </a:lnSpc>
            </a:pPr>
            <a:r>
              <a:rPr lang="en-GB" dirty="0"/>
              <a:t>For example: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“</a:t>
            </a:r>
            <a:r>
              <a:rPr lang="en-GB" i="1" dirty="0"/>
              <a:t>We applied SVM.”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“</a:t>
            </a:r>
            <a:r>
              <a:rPr lang="en-GB" i="1" dirty="0"/>
              <a:t>We applied SVM because it is a good classifier.”   </a:t>
            </a:r>
            <a:r>
              <a:rPr lang="en-GB" b="1" dirty="0" err="1">
                <a:solidFill>
                  <a:srgbClr val="FFC000"/>
                </a:solidFill>
              </a:rPr>
              <a:t>Mehh</a:t>
            </a:r>
            <a:endParaRPr lang="en-GB" b="1" dirty="0">
              <a:solidFill>
                <a:srgbClr val="FFC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GB" dirty="0"/>
              <a:t>“</a:t>
            </a:r>
            <a:r>
              <a:rPr lang="en-GB" i="1" dirty="0"/>
              <a:t>We applied SVM because its requires few training images, which fits our problem where few images were available. ” </a:t>
            </a:r>
            <a:r>
              <a:rPr lang="en-GB" b="1" dirty="0">
                <a:solidFill>
                  <a:srgbClr val="00B0F0"/>
                </a:solidFill>
              </a:rPr>
              <a:t>Good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“</a:t>
            </a:r>
            <a:r>
              <a:rPr lang="en-GB" i="1" dirty="0"/>
              <a:t>We applied SVM because its requires few training images, which fits our problem where few images were available. This was supported empirically by its comparison with NN, where a 10% was achieved, as shown in table 1”  </a:t>
            </a:r>
            <a:r>
              <a:rPr lang="en-GB" b="1" dirty="0">
                <a:solidFill>
                  <a:srgbClr val="009900"/>
                </a:solidFill>
              </a:rPr>
              <a:t>Excellent!!!</a:t>
            </a:r>
          </a:p>
          <a:p>
            <a:pPr lvl="1">
              <a:lnSpc>
                <a:spcPct val="90000"/>
              </a:lnSpc>
            </a:pPr>
            <a:endParaRPr lang="en-GB" i="1" dirty="0"/>
          </a:p>
          <a:p>
            <a:pPr lvl="1">
              <a:lnSpc>
                <a:spcPct val="90000"/>
              </a:lnSpc>
            </a:pPr>
            <a:endParaRPr lang="en-GB" i="1" dirty="0"/>
          </a:p>
          <a:p>
            <a:pPr lvl="1">
              <a:lnSpc>
                <a:spcPct val="90000"/>
              </a:lnSpc>
            </a:pPr>
            <a:endParaRPr lang="en-GB" dirty="0"/>
          </a:p>
        </p:txBody>
      </p:sp>
      <p:sp>
        <p:nvSpPr>
          <p:cNvPr id="2" name="&quot;No&quot; Symbol 1"/>
          <p:cNvSpPr/>
          <p:nvPr/>
        </p:nvSpPr>
        <p:spPr bwMode="auto">
          <a:xfrm>
            <a:off x="4932040" y="2479764"/>
            <a:ext cx="333828" cy="275771"/>
          </a:xfrm>
          <a:prstGeom prst="noSmoking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76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1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1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1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1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1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1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7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Assistance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971601" y="1196752"/>
            <a:ext cx="7992886" cy="5544616"/>
          </a:xfrm>
        </p:spPr>
        <p:txBody>
          <a:bodyPr/>
          <a:lstStyle/>
          <a:p>
            <a:r>
              <a:rPr lang="en-GB" sz="2400" dirty="0"/>
              <a:t>We are here to help</a:t>
            </a:r>
          </a:p>
          <a:p>
            <a:r>
              <a:rPr lang="en-GB" sz="2400" dirty="0"/>
              <a:t>If you don’t understand then please ASK</a:t>
            </a:r>
          </a:p>
          <a:p>
            <a:pPr lvl="1"/>
            <a:r>
              <a:rPr lang="en-GB" sz="2000" dirty="0"/>
              <a:t>Email: </a:t>
            </a:r>
            <a:r>
              <a:rPr lang="en-GB" sz="2000" u="sng" dirty="0">
                <a:solidFill>
                  <a:schemeClr val="accent4">
                    <a:lumMod val="75000"/>
                  </a:schemeClr>
                </a:solidFill>
                <a:hlinkClick r:id="rId3"/>
              </a:rPr>
              <a:t>j.martinez-del-rincon@qub.ac.uk</a:t>
            </a:r>
            <a:r>
              <a:rPr lang="en-GB" sz="2000" u="sng" dirty="0">
                <a:solidFill>
                  <a:schemeClr val="accent4">
                    <a:lumMod val="75000"/>
                  </a:schemeClr>
                </a:solidFill>
              </a:rPr>
              <a:t>, B.Ahmaderaghi@qub.ac.uk</a:t>
            </a:r>
            <a:r>
              <a:rPr lang="en-GB" sz="2000" dirty="0"/>
              <a:t> - </a:t>
            </a:r>
            <a:r>
              <a:rPr lang="en-GB" sz="1800" dirty="0"/>
              <a:t>No response to queries for which the information is already provided</a:t>
            </a:r>
          </a:p>
          <a:p>
            <a:r>
              <a:rPr lang="en-GB" sz="2000" dirty="0"/>
              <a:t>Office Hours</a:t>
            </a:r>
          </a:p>
          <a:p>
            <a:pPr lvl="1"/>
            <a:r>
              <a:rPr lang="en-GB" sz="1800" dirty="0"/>
              <a:t>Jesus: Wednesday 14:00 - 17:00 16 Malone Roal 01.008</a:t>
            </a:r>
          </a:p>
          <a:p>
            <a:pPr lvl="1"/>
            <a:r>
              <a:rPr lang="en-GB" sz="1800" dirty="0"/>
              <a:t>Baharak: Tuesday 11:00 – 12:30 </a:t>
            </a:r>
          </a:p>
          <a:p>
            <a:pPr marL="457200" lvl="1" indent="0">
              <a:buNone/>
            </a:pPr>
            <a:r>
              <a:rPr lang="en-GB" sz="1800" dirty="0"/>
              <a:t>                   Thursday 11:00 – 12:30 21 </a:t>
            </a:r>
            <a:r>
              <a:rPr lang="en-GB" sz="1800" dirty="0" err="1"/>
              <a:t>Stranmillis</a:t>
            </a:r>
            <a:r>
              <a:rPr lang="en-GB" sz="1800" dirty="0"/>
              <a:t> Road</a:t>
            </a:r>
          </a:p>
          <a:p>
            <a:pPr lvl="1"/>
            <a:r>
              <a:rPr lang="en-GB" sz="1800" dirty="0"/>
              <a:t>MS Teams: Feel free to call, share your screen, etc</a:t>
            </a:r>
          </a:p>
          <a:p>
            <a:pPr lvl="1"/>
            <a:r>
              <a:rPr lang="en-GB" sz="1800" dirty="0"/>
              <a:t>Drop us an email before!</a:t>
            </a:r>
          </a:p>
        </p:txBody>
      </p:sp>
    </p:spTree>
    <p:extLst>
      <p:ext uri="{BB962C8B-B14F-4D97-AF65-F5344CB8AC3E}">
        <p14:creationId xmlns:p14="http://schemas.microsoft.com/office/powerpoint/2010/main" val="21572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Topic</a:t>
            </a:r>
          </a:p>
        </p:txBody>
      </p:sp>
      <p:sp>
        <p:nvSpPr>
          <p:cNvPr id="4" name="AutoShape 7" descr="data:image/jpeg;base64,/9j/4AAQSkZJRgABAQAAAQABAAD/2wCEAAkGBxQQEhIUDxQVFBAVGBQSFRQUFBYVFRcUGBUYFhQYFxcYHCggGhwmGxUUIjEhJSkrLi4uFx8zODQsNyotLisBCgoKDg0OGxAQGiwkHyQsNCwtLCwsLCwsLCwsLCwsLCwsLCwsLCwsLCwsLCwsLCwsLCwsLCwsLCwsLCwsLCwsLP/AABEIALgBAAMBEQACEQEDEQH/xAAcAAADAAIDAQAAAAAAAAAAAAAAAgQGBwEDBQj/xABEEAABAwIBBwcKBgEDAwUAAAABAAIDBBEFBhIhMUFxshMyNFFzgbEHIjNCYXKRobPBFCNSgtHwYiRDohZTwxUlY4PC/8QAGwEBAAIDAQEAAAAAAAAAAAAAAAIDAQQFBgf/xAA0EQEAAgEDAQYDBwQCAwAAAAAAAQIDBBExIQUSMkFxgRNDUSIzQmGRscEGFKHRNOEVI0T/2gAMAwEAAhEDEQA/AN4oBAIBAIBAIBAIBAkuo7j4IJsG6PB2cfAEHGN9HqOyk4CgtQQ4xzB2kP1WoLkHn4l6Sn7Q/TkQXoJKz0kHvu+k9BYggn6TD2c/FCguKCBvSndkz6j0HoIIaP01Rvj4AguQRYbrm7V/gEFhQQ4H6Bn7uIoLJeadx8EE2DdHg7OPgCCxAIBAIBAIBAIBAIBAkuo7j4IJsG6PB2cfAEHGN9HqOyk4CgtQQYxzB2kP1WoLgg8/Ej+ZT9p/43oPQug87FKpkb4HSOaxoc7S5waPRP61jvQlWlreGN0U+WdCznVMV/Y6/goTlpHm247O1M8Ul5c2XdCZ4nCobYMmBNnaCXREbP8AE/BY+PT6p/8Ai9Vvt3JenDlrQv0NqYr+11vFZjLSfNC3Z2przSVFHWxy1LjE9rxyTNLHBw9I/qU+9H1atsd6+KNnr3WUENH6ao3x8AQXoIsN/wB7tX+AQWFBDgfoGfu4igsl5p3HwQTYN0eDs4+AILEAgEAgEAgEAgEAgECS6juPggmwbo8HZx8AQcY30eo7KTgKC1BBjHMHvxfVah14hY51tepY4Ijfo1/ld5RKaB8Yg/1ErHk2YbM5jhpfq27Lqi+eI4dbS9j5ssxNvsxP6sExjyjVtRcNeIWfpiFjb3jpWpbU3tw9Fp+xtNjjrHen82JVMrpHB0jnPd+pxLjq6zpVXemeXRtirTuxWNurhQbHdcHWO/7KXkrn732cqKz2ETy1+c0lrgNBaSCNOwhTiZivRRalLZNpjyZTg+X9bTWHK8qwerL5/wDy1/NTpqLVaGo7G02XiNvRneS3lLp5pJPxQ/DveWWJOdHobbnWFu8d63KaiJ5ee1PYuXH1x/aj/LYkUgcAWkEEXBBuCPYVsRMTw40xNZ2lNhv+92r/AACywsKCHA/QM/dxFBZLzTuPggmwbo8HZx8AQWIBAIBAIBAIBAIBAIEl1HcfBBNg3R4Ozj4Ag4xvo9R2UnAUFiDwMs8aipIA+Z1vOYWsFs5+a9riGjboHzUL3isbtjTabJnv3aQ03lZlvUYgS0nkqfZE06x/m7RnbtS5+TPa/SHs9D2Vi08b82+rFXerv+xVMcOlfpNfUyis3Kdn92KUcKssda+plFaU6x3/AGWY4VfM9jLC0vrd33Uvwq/m+xiorHA1nuWZVU8UshyWyuqMPd+U7OivcxOJzf2/pPtHwKtx5rUaWt7MxamONp+rcuRWUkNcyR0Rs/PLnROIz23ta/WNGtdHHki8PF6vRZNNbu2/XyZKrGohwP0DP3cRQ5Wy807j4IJsG6PB2cfAEFiAQCAQCAQCAQCAQCBJdR3HwQS4N0eDs4+AIDG+jz9lJwFB5mWGU8eHRZ7/ADpHXEcd7FxHgBcXKpy5YrDd0Ohvqr92vHnLQGOYvLWSmWodnPNrdTRfQ1o2Bc6bzad5e3xabHgxRSiJVtyvSCv9Xf8AYqUcIZOa+plFYU7P7sUo4VZea+plFaU6xuP2WY4VfM9jLC0vrd33Uvwq/m+xiorCjWe5ZlVj8VjBYXKMLr5KaQSwOLJGnQR4HrHsVnfmJ3hpzp6Za2pfrEy3zkPlezEY9NmVDLcpHf8A5N62n5Lo4csXh4rtDs+2kt+U8S9vAvQR/u4irnOWy807j4IJsG6PB2cfAEFiAQCAQCAQCAQCAQCBJdR3HwQS4P0eDs4+AIJMq69lPSVD5TZvJvG8lpAA9pJCje3djdbhxWy3itXz9lDjcldM6abWdDW3uGN2NH87Vyst5vbd9B0elx6bFFafq8p38eKhVdl8BlhaV+zf9ipRwryc19TKKwp2f3YpRwqy819TKK0p1jcfssxwq+Z7GWFpfW7vupfhV/N9jFRWFGs9yl5KqeKxlBcVm3ep2VYuZ9V2E4lJSysmhdmyMNx1EbWkbQepZpaazvCvU6fHnxzW8N/5DYuyro4pI9ekPbe+Y+5LmndddWlt67vn2pwWw3msvel5p3HwU2umwbo8HZx8AQWIBAIBAIBBwSgAUHKAQCBJdR3HwQS4P0eDs4+AINNeV3KP8ROaeM/kwXvb1pdp/aNHeVoZ8net3Yet7J0XwsE5bczx6MFC055ekr0K7+PFSqqy+EyitK/Zv+xUo4V5Oa+plFY4cNX92LMKssTvX1c2WNlslOsd/wBlKOFU/eexlFbJfW7vupfhV/N9jFRWFGs9yl5KqeKxlBcVm3ep2VYuZ9TBRWQyvyY5SfgqhrXm0E1mP6g69mO9libH2FbWHJ3b7S4XaWi+PpomOa8N+yHzTuPguhDxafBujwdnHwBZFiAQCAQCAKDEcoahz8RoaaRxbSyR1EpAcW8rLHmZrCRpIAcXZu3uQdklSKKWCKB3KNqKp0Lmvc55h/0zpQGm9wByY807H7EHiQ5b1c0MMkEVOM+jlrniR0lhyb80sbbrG0oMwkx+GOlZVVDhDC5kbyXnm8oBYE9d3AIK8PxGKobnwSMlZ1scHD5IO+XUdx8EGNYzjP4LDBKOeIY2s99zAG/M/JV5b9ysy29Dp/j560/V89SkkG5uTcknWTtJK5Uc7voOSNscxH0cqM8rYK7+PFSqqy+EyjK0r9m/7FSjhXk5r6mUY281hooXPc1sbS5xOhrRcnR1BO9WtZm07Q1s9602m8+bLcP8ndVKLvzIh/mbn4NXKy9safHO0Tu0cvbGCvSsbrn+TJ4exv4ht3Ne70R9UsH6/wDJVR25j7k27s/r/wBNT/zVe/v3UmIeTiqjBMZZL7GktPwP8qzD2zp7z16erax9s4bdLRsxGrpXwyFkrXMeBpa4WOv5rq0vW9N6zu38eSuS+9Z36OtZbJRrPcpeSqnisZQXFZt3qdlWLmfUwUVhY+aNylblXi2mkPoLye43+MoWlxvJGDE/ru0aCd4sV08N+/V4TtXTf2+omI4nrDIMG6PB2cfAFc5qxAIBAIBAIJcQw6KobmTxskZcOAe0GzhqIvqI6wg6JsDp3xNifBE6FpDhGWNLQ4G97ddydPtQeXJkdA6ojkMcXIxxPhbByQzfOeHl1721jVbaUGQTwNkBbI1rmnW1wDgd4OtBiOIeTShkdykDH0k2m0tI8wuF9fN0H4IJnYPi9ID+HrIq2P8A7dXHyclrauVYdO8gINc5fZWTyQ0lPVUzqbk2tkJzxKx4zA2NwIAsLZ2gjatXUVtbpEu52Nmpp5tkvWevTfyYe2oa8HNcDoK05x2pPV6f+8w5sc9yYl3KtuxMebh+r4eKRyrzRPccrHmtj8yv1t3/AGKlHEwqyb96vq9bJ7BJK2Xk4tG1zzqa3rPXuWtqtVTT071/ZVq9XTT13lt7Ccn4aLkWwt84l2c88935btZ+y8ll12TU9+bcbdI93kNTq8me29/0ZAuS10c3p4vcm8YlsV+4n1j9pYnlWtZJ4eMYPFVyuZO0OHJNsfWac92lp2FdTTavJp8UWpPmswajJhv3qS1LlTk7JQSZr/OjdcxyWtcDWD1OFwvWaPWU1NN68xzD12i1tNRX83hDWe5bstmnisZQXFZt3qdlWLmfUwUVhYtQUrcqsPghsLyPYlydRNCTomjuPejv9nH4BbOkttMw4X9QYN8dcseTcGDdHg7OPgC6DyCxAIBAIBAIBAIBAIBB1ynQdx8EHzplpV8pVHqZHDGP2xNv8yVytRbe73nY+GK6Wu/n1YzVUjHg3aL216j8kpltE7RKzV6DBkrNrV6/Uv4V7eZIbfpfpHx1qXxK28UKv7HPi64ck+kkfUSNHnsuNGlhvt6ikUpM9J/VVk1WppX/ANlN/wA4d0Vax2gOseo6CoWw2jq3MXaWDJ032n6S7S8EgA3N9Q16QbKPdmImZ4W31FJvERPEt75HYEKKnayw5R1nSHrdbV3al4TtLWTqMv5Rw8nrNRObJv5PUqefD7zvpuWrh8N/T+Yac8qlrso5vTxe5N4xLYr9xb1j9pY81i10kI6Q7sm8bls/I9/9I+bpyiwhtZA+J+si7XfpcOaQp6LV20+WLx7tnTZ7YckXq0HNC5j3seLPac1w6iNBXvotFoiY83ssF4vvaPMqea8rNu9Ssrxcz6mCisLFqClblXh8EPZyRrOQrKZ51CQNO5/mHiUsVu7eJa3aGP4unvV9E4OPyIOzj4Auu+drEAgEAgEAgEAgEAgCgR40HcUZjl8t1VRyj3PPraVx8k72l9H0lO5hrV0P1HcVGvK3N4JMsTyshw/V3jxWa8qs0RNSywtfzgDvUovMT0nZHLpcWXx1iXdklkyZq2ERS8m7Ozw4MD83N84aCdOoJrNdXHgta1d3mNb2ZOmrOWluZ2fRUDSGgOIc4AAkDNBO02ubfFfNstotaZiNocyHVU8+H3nfTcrMPgv6fyxPKpa7KOb08XuTeMS2a/cT6x+0seaxaySEdId2TeNy2fkR6/6R81pWsy0p5R6QRV8pb67Y5DvIIPgvddl5Jvpa7+j1PY15tinfyljK6DsFZt3qVleLmfUwUVhYtQWb8q8PggwcRpGsaRvGkJDOSN6TH5PqDBzeCE//ABx8AXZh8ztysWUQgEAgEAgEAgEAgECuWB8pR6huC49+X0zB93Dl+o7isV5ZzeCTLE8rIK7+PFSqqy+Eyj5rWTeTk/8AuEV+qQf8Vz+1f+Ldx+2vuY9f4brXhZeXTVPPh95303LYw+C/p/KM8qlrMo5vTxe5N4xLar9xPrH7Sx5rFrJIR0h3ZN43LZ+RHr/pHzXLWZad8qfTv/rj/wD0vbdjf8WPV6bsPrjt6sPXUduOCs271KyvFzPqYKKwsWoKVuVWHwQ5dqO4+CxCeTwz6PqDBejwdnHwBdmHzK/ilasohAIBAIBAIBAIBBwUCyHQdxWDd8xYvTclM9nUQe4tDh8iuRlja8vo2gv39PWY+iF+o7io15X5vBJlieVkFd/HipVVZfCZRWr8Br/w1TBKdTXgu90gh3yPyVWoxfFw2p9YaPaGL4mLZ9AtdcXGkHSvnl6zWdpeN22T1XPh95303K7D4L+n8wjPKpa6SOb08XuTeMS2K/cT6x+0o+axa6SEdId2TfqOWz8j3/0j5rSteI8mYaJy0xIVNbO9pu1pEbT1hotf43Xv9DinFp6VnnZ67svF8LFtPLxFtOmVm3epWV4uZ9TBRWFi1BStyqw+CHdTQGR7GDW9zWD9xt90rG8s5rRWkzP0fTuEj8iHs4+ALsvmdp3mVaMBAIBAIBAIBAIBAIEl1HcUHz95QqHkqiN2yWCCS/WQwNPCubqq7X3e27Czd/TRX6SxaTUdxWvXl1s3hs5WJ5WwV38eKlVVl8JlHzWlfs3/AGKlXiVWTpMb/VtrybZSiaMU8ptLGPMJPPZ/I/heU7Z0M1t8anE8vN9q6Kcd/iV4ll9SfPh95303Lj4elL+n8w42+8q1qpI5vTxe5N4xLZr9xb1j9pRnlYtZJCOkO7JvG5bX/wA/v/EI7dXgZf5Siki5OM/6iQENsdLG6i49XsXS7J0E5r/EvH2Y/wAun2do5z33nww0w0aT3eC9jPD1OKNrWMoris271KyvFzPqYKKwsWoLN+VWHwQyTyfUfLV8AtcMJlO5jSR881W4K968NHtfN8PS2/Po39g3R4Ozj4Auq8CsQCAQCAQCAQCAQCAQJLqO4+CDVvlRwrlKGjqGjTExjHe49jfBwb8StTV03jd6D+n9R3Ms4582pn6juK0K8vWZfu5MsTytgrv48VKqrL4TKPmtK/W3f9ipRwqyeKs/m7YZXMcHMJa5pBa4GxB6woTWLRMTwletbRNbRy2Pk/5QGyOiZWeY5pP5o5rvMI0j1TpHsXA1PZExFrYfOOPd5nXdlWxzFsfVsKmqWyNDo3Nc07WkEfJeavhvSdrRs5NqzXpLomP58XuTeMStpXfDPrH7Sh+JTLKGAl5DWjWSbD4lU0xWtO1YTiJtO0MByjy8jhld+FtLIYw3O9RpD3HX62saAvRaLse98cfG6Rvu6el7Mvkv9veGtqyqfK90kri57jcuOtehpSuOvdrG0Q9RjxVx1itYTDWe5WTwxTxWMsLis271KyrFzPqYKKwsWoKVuVWHwQ2p5GMKNqmpcNFuRZxSHgHxW3pK/iea/qHUfarij1bOwbo8HZx8AW88wsQCAQCAQCAQCAQCAQJLqO4+CDymUDamiZDJzJIWMPewae5RtETGy3DlnFeLxzD5yxahfTySwy6HxktPtttHsIse9cma7W2fQq5q5tP344mHQoTy2oK7+PFSqqy+EyitK/Zv+xUo4V5Oa+pgorHDtn92KUearJtvX1d1PUvjN4nuY7rY4tPyULVrfpMM5MVbxtaF/wD1JV3b/qJNAcB52w5t/AfBUf2eDbwQ1J0On7/WscIqurklN5Xvef8ANxd8Lq6lKU8MbNqmGlI+xCbb3fdWfhPm+xlGFpRrPcpKqeKxlBcVm3ep2VYuZ9TBRhY5o4XSFjGDOe4hrQNribAfFSmN7bNet4pi70+UPpPJ7CRR0scLdOYzzj1vIu4/EldbHWKViHz7V6ic+W2SfNXg3R4Ozj4AptdagEAgEAgEAgEAgEAgSXUdx8EHnYfWRx08HKSMZ+VHznNb6g6yg155WcDbUxfjaRzZMwFk3JkOBaNTrtOttzf2H2LVz4t/tO92Rr/hxOG3E8NV2XOmer2cdehH/wAeKlVVl8JlFaV+zf8AYqUcK8nNfUyisKdn92KUcKsvNfUyitKdY7/ssxwq+Z7GWFpfW7vupfhV/N9jFRWFGs9yl5KqeKxlBcVm3ep2VYuZ9TBRWNmeRvJguP4yZvmtu2EEazpzn7hqG8rfwYuveeT7X122OMFff/TbsvNO4+C3Hmk2DdHg7OPgCCxB5tbjMcUjYQHSTuaZOTjGc4MBAznXIDRc2Fzp2IO3CsTjqomywOzo3XF7EEEGzmuadLXAggg6QQg7J61rSW3vJmOlEbdLy1tgSBvIG8oHpZ89jXZrmZwDs14s5txezhsIQdt0BdAXQF0BdB11FQ2NpdI4NYNJc4gNA6yTqQYRWeUITudFg8D66QaHSA8nTRn/AClI0nbYa7a0GKVHkqqMTfSVFfUxWzGNkZDFm5sLWgsa15PnONyCSNGy6DZ9Vh0dPRSxQMayJkMjWsA0AZh2bUmN+hDTnlEyPNBLykQJpZD5p/7bv0H2dR7lzc+HuzvD2/ZPaUamvcv4o/yw1/8AHiterq5vC5WFpX+rv+xUo4V5Oa+plFYU7P7sUo4VZea+plFaU6xuP2WY4VfM9jLC0vrd33Uvwq/m+xiorCjWe5S8lVPFYygucMGvep2U4vP1ZNkNkq/EZrG7adhBkf8APMaf1EfD4K3Dim0uf2l2hXTU2jxTx/23pk7CGU8TWABrQWtA1ABxAHyXTiNujwtrze02nzehLzTuPgsopsG6PB2cfAEFiDFpqCWnxGSrYwzRTQMhc1hbnsfE5zm2DiAWuDiNeghBiVTk6In0LKyHlnT1GIVEkDHAhvKtz8y5LQ8N0C+0m9kF2GZL1EJgM0XLSf8Ap7qV0oc0ubNnFzQXOs4+aQ0EeCApsn6hppRLTiZjaWmhZ+YGfhaiF13vuDfNd5ty25OYBtQZJllhJqhSt5PlGNqI3yC9vywHB19IuNI0IMO/6XqOTp2S075YGMqYmwsmbGYXOn5SB4JJsAwNbdvnMzTb2h7ceRrJ5sQNVFpma2OKYuziGuhDJC3TcHPaDqF7BBKMBrPwUTpWNkqjLDJUwsc1okiiZyQjaXDNNrNfY6CbjRdBluS1B+Hpo4sx0bWghsbpDI5jLnNa53Xa2gaBqCB8eyfp65jGVcYlYx4ka117ZwBAuBr0OOj2oLIqZkUeZE1rGNBAa0BrQLbAEHVg/R4Ozj4AgMb6PUdlJwFB2V1GyZjo5Wh0bhmuadIIWLViYTx5LY7Ras9Wisu8h5KAmSO8lKSLO2x6Rof9nLn5ME1neHr9H2rXPTuW6W/diK1Zl34236Ffs3/YqUcK8nNfUyisKdn92KUcKsvNfUyitKdY3H7LMcKvmexlhaX1u77qX4VfzfYxUVhRrPcpeSqnisZQW77MlyKyNlxFxIvHTg+dKRr62s6z8h8ltY8M3nq4us7Tx6WJ87b8N84ThkdLE2KBuaxuobTp0knaT1roUrFY2h43PmvmtN7z1kuBegZ+7iKlEqlsvNO4+CCbBujwdnHwBBYg86rxqnhfmTTxMkNgGPka13naG6CdtkHQ/FqNzBUGWB0bSWtmzmEB20NfsO5B3vxina5jHTxB8maY28o27w7Q0tF9N9lkE1RlBCYpXwSwSvjaX5pnYxuj9T9Oa3/KxCDuOO07XMZJNCyZ+ZaMytziXi7QNIJvs0aUHZjGJCnYCQXPe5sUbBoL5Hc0X2DQSTsAJ2IPGmynlElWxtKZPwoje/MmbnOa9rn/AJbXMFyA06CRdBbQZQsndC6IxmnlgNQJHShsgFxb8ki+bYm7rixFkFP/AK7TcnyvLxclfNz89ubnWva/XbSg4GMtFQyB2gyxumgeCHNkazN5S1tRGew+0OuNqD0ZNR3HwQTYN0eDs4+AIOMb6PUdlJwFBZZBBjTQYwCLgviBB0ggyNuCkxvyRbbhr/K3yXNkJkw8hjtsLuYT/g71d1iNy08um86vR6Ht21I7ufrH1aqxOgkp3iOdjo3g6nC2w6RsI9oWp3Zjl6OufHmik0nfq6FW23Dtn92KUcKsm+9enm5UVpTrHf8AZZjhX8z2MsLC+t3fdS/Cr+Z7GUVm7toqV80mZCxz3m1mtFyp7TPSGrOWmPvWtO0fm2dkn5LDdsmIH2iBp43fYfFbeLTbdbPP67t7f7GD9Wx8GhaxsjWANY2RwDQLACw1ALdiNnmbWm8za0vRRhDgfoGfu4igsl5p3HwQTYN0eDs4+AILEGF5UZJy1b6tzDFmz08NO3PvoMcpkcXAN1EOta+xB01mSdS4zGN0I5SsNXYl4IYaYQWD2tzmOBbe7dYJFxdBxhWS0tM2J87YpRBQmkzWBznF7XF4LGkbQLawblB42S2FSzU08JYDLLRMpuXLpQ2MMBbHE9kkLdP5kh0Zx82x2IParsj5pHyuBivJHh7Bcu0GlkMj9ObqdfR7oQexlbRPd+EmYC78LUNncxou5zDHJE/NG0gSZ1hpOaQNJQSnB6oTVssDoQKpsLWPe55MYYxzc4sDRnE59wM4ataCZmRjoRAyExvhhopqICa5L3SFpu8NFs3zDfT62jUgnhySqouRfHJE58MkpZFM58jDBLDHEWPlzc97gY7hxaTZ2b7UHouwx76ugFhm0kcrpXtZybC97GMjZG3VaweSBqAb1oMpk1HcfBBNg3R4Ozj4Ag4xvo9R2UnAUFqCDGOYPfh+q1Bcg8bKHD46gwMnY17DIdDhf/bf/AWJrErMWa+Kd6TsxDGfJLDJc0sroT+lw5RniHD4rVvpYnh3NP8A1Blp0yRuwzFPJrWwuaGtZLckDMdYmzSdTrbAqZ01o4dKnbenybd7o8eqyWrI+fSzd0Zdw3VM4b/R0q9paW3F4QuwmozgOQmvZ2jkZL7L7NyfDttwf3WHv796OFlNkzWScymm743N4rJ8G/0Ldo6avN4eth/k6rpZM1zGxeaHHlHjUXEDQ2/UVbXT2mOrn5e2tPS+9Z36eTM8H8kcbdNXM6T/AAjHJt73XJPyV1dJHm5uf+oclumKuzMMn8JhpXzsp42xtBj5o0nzBrOsrarWKuHmz5M3W87vcUlKPDf97tX+AQWIIcD9Az93EUFkvNO4+CCbBujwdnHwBBYgEAg4sgLIOUHBQACDlAIOAECy6juPggmwbo8HZx8AQcY30eo7KTgKC1BDjHMHaQ/VaguQefiXpKftP/HIgvQSVnpIPfd9J6CuyCCfpEPZz8UKxtBvK5Z2g3Qs6U7smfUeg9BBDR+mqN8fAEFyCLDdc3av8AgsKCHA/QM/dxFBZLzTuPggmwbo8HZx8AQWIBAIBAIBAIBAIBAIEl1HcfBBNg3R4Ozj4Ag4xvo9R2UnAUFqCHGOYO0h+q1Bcg8/EvSU/aH6ciC9BJWekg9930noLEEE/SYezn4oUFyCBvSndkz6j0HoIIaP01Rvj4AguQRYbrm7V/gEFhQQ4H6Bn7uIoLJeadx8EE2DdHg7OPgCCxB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124744"/>
            <a:ext cx="8064896" cy="4841637"/>
          </a:xfrm>
        </p:spPr>
        <p:txBody>
          <a:bodyPr/>
          <a:lstStyle/>
          <a:p>
            <a:r>
              <a:rPr lang="en-GB" dirty="0"/>
              <a:t>Pedestrian Detection</a:t>
            </a:r>
          </a:p>
          <a:p>
            <a:pPr lvl="1"/>
            <a:r>
              <a:rPr lang="en-GB" dirty="0"/>
              <a:t>Machine Learning</a:t>
            </a:r>
          </a:p>
          <a:p>
            <a:pPr lvl="1"/>
            <a:endParaRPr lang="en-GB" dirty="0"/>
          </a:p>
          <a:p>
            <a:pPr lvl="1"/>
            <a:endParaRPr lang="en-GB" sz="2800" dirty="0"/>
          </a:p>
          <a:p>
            <a:pPr lvl="1"/>
            <a:endParaRPr lang="en-GB" sz="1800" dirty="0"/>
          </a:p>
          <a:p>
            <a:pPr lvl="1"/>
            <a:r>
              <a:rPr lang="en-GB" dirty="0"/>
              <a:t>Detection</a:t>
            </a:r>
          </a:p>
        </p:txBody>
      </p:sp>
      <p:pic>
        <p:nvPicPr>
          <p:cNvPr id="3074" name="Picture 2" descr="C:\Users\jmartinezdelrincon\Dropbox\CSC4067\workshops\Prac4\People\images\pos\img0009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0832" y="2477378"/>
            <a:ext cx="1103549" cy="183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jmartinezdelrincon\Dropbox\CSC4067\workshops\Prac4\People\images\pos\img0010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692" y="2472794"/>
            <a:ext cx="1103549" cy="183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jmartinezdelrincon\Dropbox\CSC4067\workshops\Prac4\People\images\pos\img0019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312" y="2472794"/>
            <a:ext cx="1103549" cy="183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jmartinezdelrincon\Dropbox\CSC4067\workshops\Prac4\People\images\neg\img00056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643" y="2477378"/>
            <a:ext cx="1103549" cy="183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jmartinezdelrincon\Dropbox\CSC4067\workshops\Prac4\People\images\neg\img03608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923" y="2477378"/>
            <a:ext cx="1103549" cy="183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C:\Users\jmartinezdelrincon\Dropbox\CSC4067\workshops\Prac4\People\images\neg\img03571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310" y="2477378"/>
            <a:ext cx="1103549" cy="183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:\Users\jmartinezdelrincon\Dropbox\CSC4067\workshops\Prac4\People\pedestrian\image_00000948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915548"/>
            <a:ext cx="2563336" cy="1922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 descr="C:\Users\jmartinezdelrincon\Dropbox\CSC4067\workshops\Prac4\People\pedestrian\image_00000934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552" y="4931694"/>
            <a:ext cx="2520280" cy="189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:\Users\jmartinezdelrincon\Dropbox\CSC4067\workshops\Prac4\People\pedestrian\image_00000943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424" y="4915548"/>
            <a:ext cx="2563336" cy="1922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558086" y="5445224"/>
            <a:ext cx="421626" cy="1080120"/>
          </a:xfrm>
          <a:prstGeom prst="rect">
            <a:avLst/>
          </a:prstGeom>
          <a:noFill/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3597424" y="4915548"/>
            <a:ext cx="686544" cy="1906356"/>
          </a:xfrm>
          <a:prstGeom prst="rect">
            <a:avLst/>
          </a:prstGeom>
          <a:noFill/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2195736" y="5697252"/>
            <a:ext cx="210813" cy="5400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4977144" y="5584384"/>
            <a:ext cx="219499" cy="7249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7740352" y="5552570"/>
            <a:ext cx="367207" cy="900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2483768" y="5697252"/>
            <a:ext cx="210813" cy="54006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5364088" y="5578132"/>
            <a:ext cx="288032" cy="73118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8279578" y="5526927"/>
            <a:ext cx="396877" cy="92640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00552" y="2469088"/>
            <a:ext cx="648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4">
                    <a:lumMod val="75000"/>
                  </a:schemeClr>
                </a:solidFill>
              </a:rPr>
              <a:t>√</a:t>
            </a:r>
            <a:endParaRPr lang="en-GB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60692" y="2469088"/>
            <a:ext cx="648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4">
                    <a:lumMod val="75000"/>
                  </a:schemeClr>
                </a:solidFill>
              </a:rPr>
              <a:t>√</a:t>
            </a:r>
            <a:endParaRPr lang="en-GB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20832" y="2477378"/>
            <a:ext cx="648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4">
                    <a:lumMod val="75000"/>
                  </a:schemeClr>
                </a:solidFill>
              </a:rPr>
              <a:t>√</a:t>
            </a:r>
            <a:endParaRPr lang="en-GB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84068" y="2276872"/>
            <a:ext cx="648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i="1" dirty="0">
                <a:solidFill>
                  <a:srgbClr val="FF0000"/>
                </a:solidFill>
              </a:rPr>
              <a:t>x</a:t>
            </a:r>
            <a:endParaRPr lang="en-GB" sz="3600" i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80339" y="2276872"/>
            <a:ext cx="648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i="1" dirty="0">
                <a:solidFill>
                  <a:srgbClr val="FF0000"/>
                </a:solidFill>
              </a:rPr>
              <a:t>x</a:t>
            </a:r>
            <a:endParaRPr lang="en-GB" sz="3600" i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40352" y="2204864"/>
            <a:ext cx="648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i="1" dirty="0">
                <a:solidFill>
                  <a:srgbClr val="FF0000"/>
                </a:solidFill>
              </a:rPr>
              <a:t>x</a:t>
            </a:r>
            <a:endParaRPr lang="en-GB" sz="3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888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6" descr="C:\Users\jmartinezdelrincon\Dropbox\CSC4067\workshops\Prac4\People\images\neg\img0360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739" y="1882843"/>
            <a:ext cx="585584" cy="97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C:\Users\jmartinezdelrincon\Dropbox\CSC4067\workshops\Prac4\People\images\pos\img0019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120" y="2095397"/>
            <a:ext cx="585584" cy="97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 bwMode="auto">
          <a:xfrm>
            <a:off x="827584" y="3323771"/>
            <a:ext cx="2612572" cy="2743200"/>
          </a:xfrm>
          <a:prstGeom prst="ellipse">
            <a:avLst/>
          </a:prstGeom>
          <a:noFill/>
          <a:ln w="5715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Pedestrian Detector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4207885" y="3947867"/>
            <a:ext cx="2452347" cy="1654629"/>
          </a:xfrm>
          <a:prstGeom prst="rect">
            <a:avLst/>
          </a:prstGeom>
          <a:ln w="57150"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itchFamily="34" charset="0"/>
                <a:cs typeface="Arial" pitchFamily="34" charset="0"/>
              </a:rPr>
              <a:t>Automatic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itchFamily="34" charset="0"/>
                <a:cs typeface="Arial" pitchFamily="34" charset="0"/>
              </a:rPr>
              <a:t>System</a:t>
            </a:r>
          </a:p>
        </p:txBody>
      </p:sp>
      <p:sp>
        <p:nvSpPr>
          <p:cNvPr id="7" name="Right Arrow 6"/>
          <p:cNvSpPr/>
          <p:nvPr/>
        </p:nvSpPr>
        <p:spPr bwMode="auto">
          <a:xfrm>
            <a:off x="6676199" y="4531846"/>
            <a:ext cx="471949" cy="362857"/>
          </a:xfrm>
          <a:prstGeom prst="rightArrow">
            <a:avLst/>
          </a:prstGeom>
          <a:solidFill>
            <a:srgbClr val="92D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9" name="Right Arrow 28"/>
          <p:cNvSpPr/>
          <p:nvPr/>
        </p:nvSpPr>
        <p:spPr bwMode="auto">
          <a:xfrm>
            <a:off x="3440155" y="4513922"/>
            <a:ext cx="767729" cy="362857"/>
          </a:xfrm>
          <a:prstGeom prst="rightArrow">
            <a:avLst/>
          </a:prstGeom>
          <a:solidFill>
            <a:srgbClr val="92D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4" name="Oval 33"/>
          <p:cNvSpPr/>
          <p:nvPr/>
        </p:nvSpPr>
        <p:spPr bwMode="auto">
          <a:xfrm>
            <a:off x="4020296" y="1308886"/>
            <a:ext cx="2762422" cy="1878021"/>
          </a:xfrm>
          <a:prstGeom prst="ellipse">
            <a:avLst/>
          </a:prstGeom>
          <a:noFill/>
          <a:ln w="5715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63523" y="1320316"/>
            <a:ext cx="1625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Training 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5435" y="2858816"/>
            <a:ext cx="1436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Test set</a:t>
            </a:r>
          </a:p>
        </p:txBody>
      </p:sp>
      <p:pic>
        <p:nvPicPr>
          <p:cNvPr id="24" name="Picture 3" descr="C:\Users\jmartinezdelrincon\Dropbox\CSC4067\workshops\Prac4\People\images\pos\img00108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008" y="1550828"/>
            <a:ext cx="585584" cy="97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5" descr="C:\Users\jmartinezdelrincon\Dropbox\CSC4067\workshops\Prac4\People\images\neg\img00056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7509" y="1550829"/>
            <a:ext cx="585584" cy="97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7" descr="C:\Users\jmartinezdelrincon\Dropbox\CSC4067\workshops\Prac4\People\images\neg\img03571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947" y="1694592"/>
            <a:ext cx="585584" cy="97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C:\Users\jmartinezdelrincon\Dropbox\CSC4067\workshops\Prac4\People\images\pos\img00098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328" y="1882843"/>
            <a:ext cx="585584" cy="97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ight Arrow 29"/>
          <p:cNvSpPr/>
          <p:nvPr/>
        </p:nvSpPr>
        <p:spPr bwMode="auto">
          <a:xfrm rot="5400000">
            <a:off x="4970190" y="3385960"/>
            <a:ext cx="760961" cy="362857"/>
          </a:xfrm>
          <a:prstGeom prst="rightArrow">
            <a:avLst/>
          </a:prstGeom>
          <a:solidFill>
            <a:srgbClr val="92D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31" name="Picture 9" descr="C:\Users\jmartinezdelrincon\Dropbox\CSC4067\workshops\Prac4\People\pedestrian\image_00000934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968" y="3861052"/>
            <a:ext cx="2160240" cy="1620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9" descr="C:\Users\jmartinezdelrincon\Dropbox\CSC4067\workshops\Prac4\People\pedestrian\image_00000934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68" y="4013452"/>
            <a:ext cx="2160240" cy="1620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9" descr="C:\Users\jmartinezdelrincon\Dropbox\CSC4067\workshops\Prac4\People\pedestrian\image_00000934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768" y="4165852"/>
            <a:ext cx="2160240" cy="1620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0" descr="C:\Users\jmartinezdelrincon\Dropbox\CSC4067\workshops\Prac4\People\pedestrian\image_00000943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282" y="3978845"/>
            <a:ext cx="1910680" cy="1433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Rectangle 47"/>
          <p:cNvSpPr/>
          <p:nvPr/>
        </p:nvSpPr>
        <p:spPr>
          <a:xfrm>
            <a:off x="7148148" y="4013452"/>
            <a:ext cx="511742" cy="1382066"/>
          </a:xfrm>
          <a:prstGeom prst="rect">
            <a:avLst/>
          </a:prstGeom>
          <a:noFill/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/>
          <p:cNvSpPr/>
          <p:nvPr/>
        </p:nvSpPr>
        <p:spPr>
          <a:xfrm>
            <a:off x="8172400" y="4489693"/>
            <a:ext cx="216024" cy="5255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/>
          <p:cNvSpPr/>
          <p:nvPr/>
        </p:nvSpPr>
        <p:spPr>
          <a:xfrm>
            <a:off x="8460432" y="4478473"/>
            <a:ext cx="216024" cy="53009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 2"/>
          <p:cNvSpPr/>
          <p:nvPr/>
        </p:nvSpPr>
        <p:spPr>
          <a:xfrm>
            <a:off x="7444409" y="4989086"/>
            <a:ext cx="506895" cy="387984"/>
          </a:xfrm>
          <a:custGeom>
            <a:avLst/>
            <a:gdLst>
              <a:gd name="connsiteX0" fmla="*/ 0 w 506895"/>
              <a:gd name="connsiteY0" fmla="*/ 387984 h 387984"/>
              <a:gd name="connsiteX1" fmla="*/ 79513 w 506895"/>
              <a:gd name="connsiteY1" fmla="*/ 378044 h 387984"/>
              <a:gd name="connsiteX2" fmla="*/ 129208 w 506895"/>
              <a:gd name="connsiteY2" fmla="*/ 328349 h 387984"/>
              <a:gd name="connsiteX3" fmla="*/ 159026 w 506895"/>
              <a:gd name="connsiteY3" fmla="*/ 318410 h 387984"/>
              <a:gd name="connsiteX4" fmla="*/ 178904 w 506895"/>
              <a:gd name="connsiteY4" fmla="*/ 288592 h 387984"/>
              <a:gd name="connsiteX5" fmla="*/ 188843 w 506895"/>
              <a:gd name="connsiteY5" fmla="*/ 258775 h 387984"/>
              <a:gd name="connsiteX6" fmla="*/ 248478 w 506895"/>
              <a:gd name="connsiteY6" fmla="*/ 219018 h 387984"/>
              <a:gd name="connsiteX7" fmla="*/ 278295 w 506895"/>
              <a:gd name="connsiteY7" fmla="*/ 189201 h 387984"/>
              <a:gd name="connsiteX8" fmla="*/ 308113 w 506895"/>
              <a:gd name="connsiteY8" fmla="*/ 179262 h 387984"/>
              <a:gd name="connsiteX9" fmla="*/ 337930 w 506895"/>
              <a:gd name="connsiteY9" fmla="*/ 149444 h 387984"/>
              <a:gd name="connsiteX10" fmla="*/ 347869 w 506895"/>
              <a:gd name="connsiteY10" fmla="*/ 119627 h 387984"/>
              <a:gd name="connsiteX11" fmla="*/ 367748 w 506895"/>
              <a:gd name="connsiteY11" fmla="*/ 99749 h 387984"/>
              <a:gd name="connsiteX12" fmla="*/ 387626 w 506895"/>
              <a:gd name="connsiteY12" fmla="*/ 69931 h 387984"/>
              <a:gd name="connsiteX13" fmla="*/ 457200 w 506895"/>
              <a:gd name="connsiteY13" fmla="*/ 40114 h 387984"/>
              <a:gd name="connsiteX14" fmla="*/ 496956 w 506895"/>
              <a:gd name="connsiteY14" fmla="*/ 357 h 387984"/>
              <a:gd name="connsiteX15" fmla="*/ 506895 w 506895"/>
              <a:gd name="connsiteY15" fmla="*/ 357 h 38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06895" h="387984">
                <a:moveTo>
                  <a:pt x="0" y="387984"/>
                </a:moveTo>
                <a:cubicBezTo>
                  <a:pt x="26504" y="384671"/>
                  <a:pt x="53744" y="385072"/>
                  <a:pt x="79513" y="378044"/>
                </a:cubicBezTo>
                <a:cubicBezTo>
                  <a:pt x="124754" y="365705"/>
                  <a:pt x="97219" y="353940"/>
                  <a:pt x="129208" y="328349"/>
                </a:cubicBezTo>
                <a:cubicBezTo>
                  <a:pt x="137389" y="321804"/>
                  <a:pt x="149087" y="321723"/>
                  <a:pt x="159026" y="318410"/>
                </a:cubicBezTo>
                <a:cubicBezTo>
                  <a:pt x="165652" y="308471"/>
                  <a:pt x="173562" y="299276"/>
                  <a:pt x="178904" y="288592"/>
                </a:cubicBezTo>
                <a:cubicBezTo>
                  <a:pt x="183589" y="279221"/>
                  <a:pt x="181435" y="266183"/>
                  <a:pt x="188843" y="258775"/>
                </a:cubicBezTo>
                <a:cubicBezTo>
                  <a:pt x="205736" y="241882"/>
                  <a:pt x="231585" y="235911"/>
                  <a:pt x="248478" y="219018"/>
                </a:cubicBezTo>
                <a:cubicBezTo>
                  <a:pt x="258417" y="209079"/>
                  <a:pt x="266600" y="196998"/>
                  <a:pt x="278295" y="189201"/>
                </a:cubicBezTo>
                <a:cubicBezTo>
                  <a:pt x="287012" y="183390"/>
                  <a:pt x="298174" y="182575"/>
                  <a:pt x="308113" y="179262"/>
                </a:cubicBezTo>
                <a:cubicBezTo>
                  <a:pt x="318052" y="169323"/>
                  <a:pt x="330133" y="161139"/>
                  <a:pt x="337930" y="149444"/>
                </a:cubicBezTo>
                <a:cubicBezTo>
                  <a:pt x="343741" y="140727"/>
                  <a:pt x="342479" y="128611"/>
                  <a:pt x="347869" y="119627"/>
                </a:cubicBezTo>
                <a:cubicBezTo>
                  <a:pt x="352690" y="111592"/>
                  <a:pt x="361894" y="107066"/>
                  <a:pt x="367748" y="99749"/>
                </a:cubicBezTo>
                <a:cubicBezTo>
                  <a:pt x="375210" y="90421"/>
                  <a:pt x="378449" y="77578"/>
                  <a:pt x="387626" y="69931"/>
                </a:cubicBezTo>
                <a:cubicBezTo>
                  <a:pt x="404002" y="56284"/>
                  <a:pt x="436485" y="47019"/>
                  <a:pt x="457200" y="40114"/>
                </a:cubicBezTo>
                <a:cubicBezTo>
                  <a:pt x="469247" y="3972"/>
                  <a:pt x="458405" y="9996"/>
                  <a:pt x="496956" y="357"/>
                </a:cubicBezTo>
                <a:cubicBezTo>
                  <a:pt x="500170" y="-447"/>
                  <a:pt x="503582" y="357"/>
                  <a:pt x="506895" y="357"/>
                </a:cubicBez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eform 3"/>
          <p:cNvSpPr/>
          <p:nvPr/>
        </p:nvSpPr>
        <p:spPr>
          <a:xfrm>
            <a:off x="8020878" y="4820478"/>
            <a:ext cx="268357" cy="168965"/>
          </a:xfrm>
          <a:custGeom>
            <a:avLst/>
            <a:gdLst>
              <a:gd name="connsiteX0" fmla="*/ 268357 w 268357"/>
              <a:gd name="connsiteY0" fmla="*/ 168965 h 168965"/>
              <a:gd name="connsiteX1" fmla="*/ 218661 w 268357"/>
              <a:gd name="connsiteY1" fmla="*/ 149087 h 168965"/>
              <a:gd name="connsiteX2" fmla="*/ 188844 w 268357"/>
              <a:gd name="connsiteY2" fmla="*/ 119270 h 168965"/>
              <a:gd name="connsiteX3" fmla="*/ 129209 w 268357"/>
              <a:gd name="connsiteY3" fmla="*/ 99392 h 168965"/>
              <a:gd name="connsiteX4" fmla="*/ 99392 w 268357"/>
              <a:gd name="connsiteY4" fmla="*/ 79513 h 168965"/>
              <a:gd name="connsiteX5" fmla="*/ 39757 w 268357"/>
              <a:gd name="connsiteY5" fmla="*/ 49696 h 168965"/>
              <a:gd name="connsiteX6" fmla="*/ 19879 w 268357"/>
              <a:gd name="connsiteY6" fmla="*/ 19879 h 168965"/>
              <a:gd name="connsiteX7" fmla="*/ 0 w 268357"/>
              <a:gd name="connsiteY7" fmla="*/ 0 h 168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8357" h="168965">
                <a:moveTo>
                  <a:pt x="268357" y="168965"/>
                </a:moveTo>
                <a:cubicBezTo>
                  <a:pt x="251792" y="162339"/>
                  <a:pt x="233790" y="158543"/>
                  <a:pt x="218661" y="149087"/>
                </a:cubicBezTo>
                <a:cubicBezTo>
                  <a:pt x="206742" y="141637"/>
                  <a:pt x="201131" y="126096"/>
                  <a:pt x="188844" y="119270"/>
                </a:cubicBezTo>
                <a:cubicBezTo>
                  <a:pt x="170527" y="109094"/>
                  <a:pt x="129209" y="99392"/>
                  <a:pt x="129209" y="99392"/>
                </a:cubicBezTo>
                <a:cubicBezTo>
                  <a:pt x="119270" y="92766"/>
                  <a:pt x="110076" y="84855"/>
                  <a:pt x="99392" y="79513"/>
                </a:cubicBezTo>
                <a:cubicBezTo>
                  <a:pt x="17085" y="38359"/>
                  <a:pt x="125216" y="106669"/>
                  <a:pt x="39757" y="49696"/>
                </a:cubicBezTo>
                <a:cubicBezTo>
                  <a:pt x="33131" y="39757"/>
                  <a:pt x="27341" y="29207"/>
                  <a:pt x="19879" y="19879"/>
                </a:cubicBezTo>
                <a:cubicBezTo>
                  <a:pt x="14025" y="12561"/>
                  <a:pt x="0" y="0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reeform 4"/>
          <p:cNvSpPr/>
          <p:nvPr/>
        </p:nvSpPr>
        <p:spPr>
          <a:xfrm>
            <a:off x="8458200" y="4830417"/>
            <a:ext cx="159026" cy="139148"/>
          </a:xfrm>
          <a:custGeom>
            <a:avLst/>
            <a:gdLst>
              <a:gd name="connsiteX0" fmla="*/ 159026 w 159026"/>
              <a:gd name="connsiteY0" fmla="*/ 139148 h 139148"/>
              <a:gd name="connsiteX1" fmla="*/ 109330 w 159026"/>
              <a:gd name="connsiteY1" fmla="*/ 109331 h 139148"/>
              <a:gd name="connsiteX2" fmla="*/ 39757 w 159026"/>
              <a:gd name="connsiteY2" fmla="*/ 39757 h 139148"/>
              <a:gd name="connsiteX3" fmla="*/ 0 w 159026"/>
              <a:gd name="connsiteY3" fmla="*/ 0 h 13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026" h="139148">
                <a:moveTo>
                  <a:pt x="159026" y="139148"/>
                </a:moveTo>
                <a:cubicBezTo>
                  <a:pt x="142461" y="129209"/>
                  <a:pt x="122990" y="122991"/>
                  <a:pt x="109330" y="109331"/>
                </a:cubicBezTo>
                <a:cubicBezTo>
                  <a:pt x="29585" y="29586"/>
                  <a:pt x="107226" y="62247"/>
                  <a:pt x="39757" y="39757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103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99" y="44624"/>
            <a:ext cx="7861849" cy="1008112"/>
          </a:xfrm>
        </p:spPr>
        <p:txBody>
          <a:bodyPr/>
          <a:lstStyle/>
          <a:p>
            <a:r>
              <a:rPr lang="en-GB" dirty="0"/>
              <a:t>Training the automatic system</a:t>
            </a:r>
            <a:br>
              <a:rPr lang="en-GB" dirty="0"/>
            </a:br>
            <a:r>
              <a:rPr lang="en-GB" dirty="0"/>
              <a:t>(32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124744"/>
            <a:ext cx="8064896" cy="5661248"/>
          </a:xfrm>
        </p:spPr>
        <p:txBody>
          <a:bodyPr/>
          <a:lstStyle/>
          <a:p>
            <a:r>
              <a:rPr lang="en-GB" sz="1600" dirty="0"/>
              <a:t>2 Main components</a:t>
            </a:r>
          </a:p>
          <a:p>
            <a:pPr lvl="1"/>
            <a:r>
              <a:rPr lang="en-GB" sz="1600" b="1" dirty="0"/>
              <a:t>A feature descriptor</a:t>
            </a:r>
            <a:r>
              <a:rPr lang="en-GB" sz="1600" dirty="0"/>
              <a:t>.</a:t>
            </a:r>
          </a:p>
          <a:p>
            <a:pPr lvl="2"/>
            <a:r>
              <a:rPr lang="en-GB" sz="1200" dirty="0"/>
              <a:t>Describe an image region with a high-dimensional descriptor. </a:t>
            </a:r>
          </a:p>
          <a:p>
            <a:pPr lvl="2"/>
            <a:r>
              <a:rPr lang="en-GB" sz="1200" dirty="0"/>
              <a:t>Options:</a:t>
            </a:r>
          </a:p>
          <a:p>
            <a:pPr lvl="3"/>
            <a:r>
              <a:rPr lang="en-GB" sz="1000" b="1" i="1" dirty="0"/>
              <a:t>Histogram of gradients (HOG)</a:t>
            </a:r>
            <a:r>
              <a:rPr lang="en-GB" sz="1000" b="1" dirty="0"/>
              <a:t> </a:t>
            </a:r>
            <a:r>
              <a:rPr lang="en-GB" sz="1000" dirty="0"/>
              <a:t>features. (</a:t>
            </a:r>
            <a:r>
              <a:rPr lang="en-GB" sz="1000" dirty="0" err="1"/>
              <a:t>Prac</a:t>
            </a:r>
            <a:r>
              <a:rPr lang="en-GB" sz="1000" dirty="0"/>
              <a:t> 5)</a:t>
            </a:r>
          </a:p>
          <a:p>
            <a:pPr lvl="3"/>
            <a:r>
              <a:rPr lang="en-GB" sz="1000" dirty="0"/>
              <a:t>Full image (</a:t>
            </a:r>
            <a:r>
              <a:rPr lang="en-GB" sz="1000" dirty="0" err="1"/>
              <a:t>Prac</a:t>
            </a:r>
            <a:r>
              <a:rPr lang="en-GB" sz="1000" dirty="0"/>
              <a:t> 4 &amp; 5)</a:t>
            </a:r>
          </a:p>
          <a:p>
            <a:pPr lvl="3"/>
            <a:r>
              <a:rPr lang="en-GB" sz="1000" dirty="0"/>
              <a:t>Dimensionality reduction techniques (</a:t>
            </a:r>
            <a:r>
              <a:rPr lang="en-GB" sz="1000" dirty="0" err="1"/>
              <a:t>Prac</a:t>
            </a:r>
            <a:r>
              <a:rPr lang="en-GB" sz="1000" dirty="0"/>
              <a:t> 6)</a:t>
            </a:r>
            <a:endParaRPr lang="en-GB" sz="1000" b="1" dirty="0"/>
          </a:p>
          <a:p>
            <a:pPr lvl="1"/>
            <a:r>
              <a:rPr lang="en-GB" sz="1600" b="1" dirty="0"/>
              <a:t>A learning method</a:t>
            </a:r>
            <a:r>
              <a:rPr lang="en-GB" sz="1600" dirty="0"/>
              <a:t>. (</a:t>
            </a:r>
            <a:r>
              <a:rPr lang="en-GB" sz="1600" dirty="0" err="1"/>
              <a:t>Prac</a:t>
            </a:r>
            <a:r>
              <a:rPr lang="en-GB" sz="1600" dirty="0"/>
              <a:t> 4)</a:t>
            </a:r>
          </a:p>
          <a:p>
            <a:pPr lvl="2"/>
            <a:r>
              <a:rPr lang="en-GB" sz="1200" dirty="0"/>
              <a:t>Learn to classify an image region (described using one of the features above) as a pedestrian or not.</a:t>
            </a:r>
          </a:p>
          <a:p>
            <a:pPr lvl="2"/>
            <a:r>
              <a:rPr lang="en-GB" sz="1200" dirty="0"/>
              <a:t>Options:</a:t>
            </a:r>
          </a:p>
          <a:p>
            <a:pPr lvl="3"/>
            <a:r>
              <a:rPr lang="en-GB" sz="1000" b="1" dirty="0"/>
              <a:t>SVM</a:t>
            </a:r>
          </a:p>
          <a:p>
            <a:pPr lvl="3"/>
            <a:r>
              <a:rPr lang="en-GB" sz="1000" dirty="0"/>
              <a:t>Nearest Neighbour, </a:t>
            </a:r>
          </a:p>
          <a:p>
            <a:pPr lvl="3"/>
            <a:r>
              <a:rPr lang="en-GB" sz="1000" dirty="0"/>
              <a:t>K-NN</a:t>
            </a:r>
          </a:p>
          <a:p>
            <a:r>
              <a:rPr lang="en-GB" sz="1600" dirty="0"/>
              <a:t>Folders </a:t>
            </a:r>
            <a:r>
              <a:rPr lang="en-GB" sz="1600" i="1" dirty="0"/>
              <a:t>images\</a:t>
            </a:r>
            <a:r>
              <a:rPr lang="en-GB" sz="1600" i="1" dirty="0" err="1"/>
              <a:t>neg</a:t>
            </a:r>
            <a:r>
              <a:rPr lang="en-GB" sz="1600" dirty="0"/>
              <a:t> and </a:t>
            </a:r>
            <a:r>
              <a:rPr lang="en-GB" sz="1600" i="1" dirty="0"/>
              <a:t>images\</a:t>
            </a:r>
            <a:r>
              <a:rPr lang="en-GB" sz="1600" i="1" dirty="0" err="1"/>
              <a:t>pos</a:t>
            </a:r>
            <a:r>
              <a:rPr lang="en-GB" sz="1600" i="1" dirty="0"/>
              <a:t> </a:t>
            </a:r>
            <a:r>
              <a:rPr lang="en-GB" sz="1600" dirty="0"/>
              <a:t>contains crops to </a:t>
            </a:r>
          </a:p>
          <a:p>
            <a:pPr marL="0" indent="0">
              <a:buNone/>
            </a:pPr>
            <a:r>
              <a:rPr lang="en-GB" sz="1600" dirty="0"/>
              <a:t>     be used for training</a:t>
            </a:r>
          </a:p>
          <a:p>
            <a:r>
              <a:rPr lang="en-GB" sz="1600" dirty="0"/>
              <a:t>Justify your choice and</a:t>
            </a:r>
            <a:r>
              <a:rPr lang="en-GB" sz="1600" b="1" dirty="0"/>
              <a:t> the parameter values</a:t>
            </a:r>
            <a:r>
              <a:rPr lang="en-GB" sz="1600" dirty="0"/>
              <a:t>. Analysis</a:t>
            </a:r>
          </a:p>
          <a:p>
            <a:endParaRPr lang="en-GB" sz="1800" dirty="0"/>
          </a:p>
          <a:p>
            <a:pPr lvl="1"/>
            <a:endParaRPr lang="en-GB" sz="1800" dirty="0"/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4" name="Picture 4" descr="C:\Users\jmartinezdelrincon\Dropbox\CSC4067\workshops\Prac4\People\images\pos\img0019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5640316"/>
            <a:ext cx="585584" cy="97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C:\Users\jmartinezdelrincon\Dropbox\CSC4067\workshops\Prac4\People\images\neg\img0357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868" y="5642344"/>
            <a:ext cx="585584" cy="97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554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0"/>
            <a:ext cx="7861849" cy="1008112"/>
          </a:xfrm>
        </p:spPr>
        <p:txBody>
          <a:bodyPr/>
          <a:lstStyle/>
          <a:p>
            <a:r>
              <a:rPr lang="en-GB" dirty="0"/>
              <a:t>Testing the classification system</a:t>
            </a:r>
            <a:br>
              <a:rPr lang="en-GB" dirty="0"/>
            </a:br>
            <a:r>
              <a:rPr lang="en-GB" dirty="0"/>
              <a:t>(21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196752"/>
            <a:ext cx="8172400" cy="5328592"/>
          </a:xfrm>
        </p:spPr>
        <p:txBody>
          <a:bodyPr/>
          <a:lstStyle/>
          <a:p>
            <a:r>
              <a:rPr lang="en-GB" sz="1800" dirty="0"/>
              <a:t>In order to justify previous choices, we need to divide dataset (both positive and negative examples) in 2 subsets: training and testing</a:t>
            </a:r>
          </a:p>
          <a:p>
            <a:pPr marL="800100" lvl="4"/>
            <a:r>
              <a:rPr lang="en-GB" sz="1600" dirty="0"/>
              <a:t>Training samples and their labels for learning</a:t>
            </a:r>
          </a:p>
          <a:p>
            <a:pPr marL="800100" lvl="4"/>
            <a:r>
              <a:rPr lang="en-GB" sz="1600" dirty="0"/>
              <a:t>choose the best techniques, strategies and parameters for each block using the testing</a:t>
            </a:r>
          </a:p>
          <a:p>
            <a:pPr lvl="1"/>
            <a:r>
              <a:rPr lang="en-GB" sz="1400" dirty="0"/>
              <a:t>Options:</a:t>
            </a:r>
          </a:p>
          <a:p>
            <a:pPr lvl="2"/>
            <a:r>
              <a:rPr lang="en-GB" sz="1050" dirty="0"/>
              <a:t>Half/half</a:t>
            </a:r>
          </a:p>
          <a:p>
            <a:pPr lvl="2"/>
            <a:r>
              <a:rPr lang="en-GB" sz="1050" dirty="0"/>
              <a:t>Cross validation</a:t>
            </a:r>
          </a:p>
          <a:p>
            <a:pPr lvl="2"/>
            <a:endParaRPr lang="en-GB" sz="1000" dirty="0"/>
          </a:p>
          <a:p>
            <a:r>
              <a:rPr lang="en-GB" sz="2000" dirty="0"/>
              <a:t>Evaluate the performance of your final choice</a:t>
            </a:r>
          </a:p>
          <a:p>
            <a:pPr lvl="1"/>
            <a:r>
              <a:rPr lang="en-GB" sz="1400" dirty="0"/>
              <a:t>Options:</a:t>
            </a:r>
          </a:p>
          <a:p>
            <a:pPr lvl="2"/>
            <a:r>
              <a:rPr lang="en-GB" sz="1400" dirty="0"/>
              <a:t>Recognition rate</a:t>
            </a:r>
          </a:p>
          <a:p>
            <a:pPr lvl="2"/>
            <a:r>
              <a:rPr lang="en-GB" sz="1400" dirty="0"/>
              <a:t>TP, FP, TN, FN   (</a:t>
            </a:r>
            <a:r>
              <a:rPr lang="en-GB" sz="1400" dirty="0" err="1"/>
              <a:t>Prac</a:t>
            </a:r>
            <a:r>
              <a:rPr lang="en-GB" sz="1400" dirty="0"/>
              <a:t> 6)</a:t>
            </a:r>
          </a:p>
          <a:p>
            <a:pPr lvl="2"/>
            <a:r>
              <a:rPr lang="en-GB" sz="1400" dirty="0"/>
              <a:t>Precision, recall, specificity, sensitivity, etc… (</a:t>
            </a:r>
            <a:r>
              <a:rPr lang="en-GB" sz="1400" dirty="0" err="1"/>
              <a:t>Prac</a:t>
            </a:r>
            <a:r>
              <a:rPr lang="en-GB" sz="1400" dirty="0"/>
              <a:t> 6)</a:t>
            </a:r>
          </a:p>
          <a:p>
            <a:pPr lvl="1"/>
            <a:endParaRPr lang="en-GB" sz="1600" dirty="0"/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632323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99" y="116633"/>
            <a:ext cx="7861849" cy="1008112"/>
          </a:xfrm>
        </p:spPr>
        <p:txBody>
          <a:bodyPr/>
          <a:lstStyle/>
          <a:p>
            <a:r>
              <a:rPr lang="en-GB" dirty="0"/>
              <a:t>Detection implementation</a:t>
            </a:r>
            <a:br>
              <a:rPr lang="en-GB" dirty="0"/>
            </a:br>
            <a:r>
              <a:rPr lang="en-GB" dirty="0"/>
              <a:t>(37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124744"/>
            <a:ext cx="8172400" cy="5256584"/>
          </a:xfrm>
        </p:spPr>
        <p:txBody>
          <a:bodyPr/>
          <a:lstStyle/>
          <a:p>
            <a:r>
              <a:rPr lang="en-GB" sz="1800" dirty="0"/>
              <a:t>Apply your classification/verification system to implement a pedestrian detector</a:t>
            </a:r>
          </a:p>
          <a:p>
            <a:r>
              <a:rPr lang="en-GB" sz="1800" dirty="0"/>
              <a:t>2 important components</a:t>
            </a:r>
          </a:p>
          <a:p>
            <a:pPr marL="715963" lvl="1" indent="-258763"/>
            <a:r>
              <a:rPr lang="en-GB" sz="1400" b="1" dirty="0"/>
              <a:t>A sliding window detector</a:t>
            </a:r>
            <a:r>
              <a:rPr lang="en-GB" sz="1400" dirty="0"/>
              <a:t>.  (Based on </a:t>
            </a:r>
            <a:r>
              <a:rPr lang="en-GB" sz="1400" dirty="0" err="1"/>
              <a:t>Prac</a:t>
            </a:r>
            <a:r>
              <a:rPr lang="en-GB" sz="1400" dirty="0"/>
              <a:t> 4)</a:t>
            </a:r>
          </a:p>
          <a:p>
            <a:pPr marL="893763" lvl="2" indent="-177800"/>
            <a:r>
              <a:rPr lang="en-GB" sz="1050" dirty="0"/>
              <a:t>Crop the image at every location and use the classifier to tell if that image region  contains a person. By scanning every location on the full image, it will detect all instances of pedestrians in that image. </a:t>
            </a:r>
          </a:p>
          <a:p>
            <a:pPr marL="893763" lvl="2" indent="-177800"/>
            <a:r>
              <a:rPr lang="en-GB" sz="1050" dirty="0"/>
              <a:t>In order to detect pedestrians at multiple sizes, our sliding window detector should run at multiple scales (will  require resizing image)</a:t>
            </a:r>
          </a:p>
          <a:p>
            <a:pPr lvl="1"/>
            <a:r>
              <a:rPr lang="en-GB" sz="1400" b="1" dirty="0"/>
              <a:t>Non-maxima suppression</a:t>
            </a:r>
            <a:r>
              <a:rPr lang="en-GB" sz="1400" dirty="0"/>
              <a:t>. (</a:t>
            </a:r>
            <a:r>
              <a:rPr lang="en-GB" sz="1400" dirty="0" err="1"/>
              <a:t>Prac</a:t>
            </a:r>
            <a:r>
              <a:rPr lang="en-GB" sz="1400" dirty="0"/>
              <a:t> 5)</a:t>
            </a:r>
          </a:p>
          <a:p>
            <a:pPr marL="904875" lvl="2" indent="-188913"/>
            <a:r>
              <a:rPr lang="en-GB" sz="1050" dirty="0"/>
              <a:t>Overlapping detections are a common problem. NMS removes overlapping detection to improve performance.  It keeps best detections in each region by selecting the strongest responses.</a:t>
            </a:r>
          </a:p>
          <a:p>
            <a:r>
              <a:rPr lang="en-GB" sz="1500" dirty="0"/>
              <a:t>Using </a:t>
            </a:r>
            <a:r>
              <a:rPr lang="en-GB" sz="1500" i="1" dirty="0" err="1"/>
              <a:t>test.dataset</a:t>
            </a:r>
            <a:r>
              <a:rPr lang="en-GB" sz="1500" dirty="0"/>
              <a:t> file, we can read the real location of people in the image sequence</a:t>
            </a:r>
          </a:p>
          <a:p>
            <a:pPr lvl="1">
              <a:lnSpc>
                <a:spcPct val="100000"/>
              </a:lnSpc>
            </a:pPr>
            <a:r>
              <a:rPr lang="en-GB" sz="1100" dirty="0"/>
              <a:t>For each image, the (x, y, width and height) parameters of the bounding box of each person in that frame, so it can be compared against our output</a:t>
            </a:r>
          </a:p>
          <a:p>
            <a:pPr lvl="1">
              <a:lnSpc>
                <a:spcPct val="100000"/>
              </a:lnSpc>
            </a:pPr>
            <a:r>
              <a:rPr lang="en-GB" sz="1100" dirty="0"/>
              <a:t>Calculate the performance of our detector quantitatively</a:t>
            </a:r>
          </a:p>
          <a:p>
            <a:pPr lvl="1">
              <a:lnSpc>
                <a:spcPct val="100000"/>
              </a:lnSpc>
            </a:pPr>
            <a:r>
              <a:rPr lang="en-GB" sz="1100" dirty="0"/>
              <a:t>Generate output video</a:t>
            </a:r>
          </a:p>
          <a:p>
            <a:pPr lvl="1">
              <a:lnSpc>
                <a:spcPct val="100000"/>
              </a:lnSpc>
            </a:pPr>
            <a:r>
              <a:rPr lang="en-GB" sz="1100" dirty="0"/>
              <a:t>Reflect and explain the results that you have obtained</a:t>
            </a:r>
          </a:p>
          <a:p>
            <a:pPr lvl="2">
              <a:lnSpc>
                <a:spcPct val="100000"/>
              </a:lnSpc>
            </a:pPr>
            <a:r>
              <a:rPr lang="en-GB" sz="1050" dirty="0"/>
              <a:t>Why and when it fails?</a:t>
            </a:r>
          </a:p>
          <a:p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156432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1" y="116632"/>
            <a:ext cx="8064897" cy="936104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Available code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124744"/>
            <a:ext cx="7772400" cy="5328592"/>
          </a:xfrm>
        </p:spPr>
        <p:txBody>
          <a:bodyPr/>
          <a:lstStyle/>
          <a:p>
            <a:r>
              <a:rPr lang="en-GB" sz="1600" dirty="0"/>
              <a:t>No implementation, only usage</a:t>
            </a:r>
          </a:p>
          <a:p>
            <a:pPr lvl="1"/>
            <a:r>
              <a:rPr lang="en-GB" sz="1200" dirty="0" err="1"/>
              <a:t>Prac</a:t>
            </a:r>
            <a:r>
              <a:rPr lang="en-GB" sz="1200" dirty="0"/>
              <a:t> 4 provides a SVM toolbox and </a:t>
            </a:r>
            <a:r>
              <a:rPr lang="en-GB" sz="1200" dirty="0" err="1"/>
              <a:t>matlab</a:t>
            </a:r>
            <a:r>
              <a:rPr lang="en-GB" sz="1200" dirty="0"/>
              <a:t> library alternative</a:t>
            </a:r>
          </a:p>
          <a:p>
            <a:pPr lvl="1"/>
            <a:r>
              <a:rPr lang="en-GB" sz="1200" dirty="0" err="1"/>
              <a:t>Prac</a:t>
            </a:r>
            <a:r>
              <a:rPr lang="en-GB" sz="1200" dirty="0"/>
              <a:t> 5 provides a HOG feature extractor</a:t>
            </a:r>
          </a:p>
          <a:p>
            <a:pPr lvl="1"/>
            <a:r>
              <a:rPr lang="en-GB" sz="1200" dirty="0" err="1"/>
              <a:t>Prac</a:t>
            </a:r>
            <a:r>
              <a:rPr lang="en-GB" sz="1200" dirty="0"/>
              <a:t> 6 provide LDA dimensionality reduction method</a:t>
            </a:r>
          </a:p>
          <a:p>
            <a:pPr lvl="1"/>
            <a:endParaRPr lang="en-GB" sz="1200" dirty="0"/>
          </a:p>
          <a:p>
            <a:r>
              <a:rPr lang="en-GB" sz="1600" dirty="0"/>
              <a:t>You should already developed in the </a:t>
            </a:r>
            <a:r>
              <a:rPr lang="en-GB" sz="1600" dirty="0" err="1"/>
              <a:t>practicals</a:t>
            </a:r>
            <a:r>
              <a:rPr lang="en-GB" sz="1600" dirty="0"/>
              <a:t> (but you can improve them)</a:t>
            </a:r>
          </a:p>
          <a:p>
            <a:pPr lvl="1"/>
            <a:r>
              <a:rPr lang="en-GB" sz="1200" dirty="0" err="1"/>
              <a:t>Preprocessing</a:t>
            </a:r>
            <a:r>
              <a:rPr lang="en-GB" sz="1200" dirty="0"/>
              <a:t>: </a:t>
            </a:r>
            <a:r>
              <a:rPr lang="en-GB" sz="1200" dirty="0" err="1"/>
              <a:t>Prac</a:t>
            </a:r>
            <a:r>
              <a:rPr lang="en-GB" sz="1200" dirty="0"/>
              <a:t> 1-2</a:t>
            </a:r>
          </a:p>
          <a:p>
            <a:pPr lvl="1"/>
            <a:r>
              <a:rPr lang="en-GB" sz="1200" dirty="0"/>
              <a:t>NMS at </a:t>
            </a:r>
            <a:r>
              <a:rPr lang="en-GB" sz="1200" dirty="0" err="1"/>
              <a:t>Prac</a:t>
            </a:r>
            <a:r>
              <a:rPr lang="en-GB" sz="1200" dirty="0"/>
              <a:t> 5</a:t>
            </a:r>
          </a:p>
          <a:p>
            <a:pPr lvl="1"/>
            <a:r>
              <a:rPr lang="en-GB" sz="1200" dirty="0"/>
              <a:t>K-NN classifier at </a:t>
            </a:r>
            <a:r>
              <a:rPr lang="en-GB" sz="1200" dirty="0" err="1"/>
              <a:t>Prac</a:t>
            </a:r>
            <a:r>
              <a:rPr lang="en-GB" sz="1200" dirty="0"/>
              <a:t> 4</a:t>
            </a:r>
          </a:p>
          <a:p>
            <a:pPr lvl="1"/>
            <a:r>
              <a:rPr lang="en-GB" sz="1200" dirty="0"/>
              <a:t>Tracking filters for comparison at </a:t>
            </a:r>
            <a:r>
              <a:rPr lang="en-GB" sz="1200" dirty="0" err="1"/>
              <a:t>Prac</a:t>
            </a:r>
            <a:r>
              <a:rPr lang="en-GB" sz="1200" dirty="0"/>
              <a:t> 7</a:t>
            </a:r>
          </a:p>
          <a:p>
            <a:pPr lvl="1"/>
            <a:r>
              <a:rPr lang="en-GB" sz="1200" dirty="0"/>
              <a:t>Concepts of sliding windows at </a:t>
            </a:r>
            <a:r>
              <a:rPr lang="en-GB" sz="1200" dirty="0" err="1"/>
              <a:t>Prac</a:t>
            </a:r>
            <a:r>
              <a:rPr lang="en-GB" sz="1200" dirty="0"/>
              <a:t> 4 and 5</a:t>
            </a:r>
          </a:p>
          <a:p>
            <a:pPr lvl="1"/>
            <a:r>
              <a:rPr lang="en-GB" sz="1200" dirty="0"/>
              <a:t>Video recorder at </a:t>
            </a:r>
            <a:r>
              <a:rPr lang="en-GB" sz="1200" dirty="0" err="1"/>
              <a:t>Prac</a:t>
            </a:r>
            <a:r>
              <a:rPr lang="en-GB" sz="1200" dirty="0"/>
              <a:t> 3</a:t>
            </a:r>
          </a:p>
          <a:p>
            <a:pPr lvl="1"/>
            <a:r>
              <a:rPr lang="en-GB" sz="1200" dirty="0"/>
              <a:t>Evaluation metrics at </a:t>
            </a:r>
            <a:r>
              <a:rPr lang="en-GB" sz="1200" dirty="0" err="1"/>
              <a:t>Prac</a:t>
            </a:r>
            <a:r>
              <a:rPr lang="en-GB" sz="1200" dirty="0"/>
              <a:t> 6</a:t>
            </a:r>
          </a:p>
          <a:p>
            <a:pPr lvl="1"/>
            <a:r>
              <a:rPr lang="en-GB" sz="1200" dirty="0"/>
              <a:t>PCA at Prac6</a:t>
            </a:r>
          </a:p>
          <a:p>
            <a:r>
              <a:rPr lang="en-GB" sz="1600" dirty="0"/>
              <a:t>Main bits to implement:</a:t>
            </a:r>
          </a:p>
          <a:p>
            <a:pPr lvl="1"/>
            <a:r>
              <a:rPr lang="en-GB" sz="1200" dirty="0"/>
              <a:t>Multi-scale sliding window</a:t>
            </a:r>
          </a:p>
          <a:p>
            <a:pPr lvl="1"/>
            <a:endParaRPr lang="en-GB" sz="1400" dirty="0"/>
          </a:p>
          <a:p>
            <a:pPr lvl="1"/>
            <a:endParaRPr lang="en-GB" sz="1400" dirty="0"/>
          </a:p>
          <a:p>
            <a:pPr lvl="1"/>
            <a:endParaRPr lang="en-GB" sz="1400" dirty="0"/>
          </a:p>
          <a:p>
            <a:pPr lvl="1"/>
            <a:endParaRPr lang="en-GB" sz="1400" dirty="0"/>
          </a:p>
          <a:p>
            <a:pPr lvl="1"/>
            <a:endParaRPr lang="en-GB" sz="1400" dirty="0"/>
          </a:p>
          <a:p>
            <a:pPr marL="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2201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99" y="116633"/>
            <a:ext cx="7861849" cy="1008112"/>
          </a:xfrm>
        </p:spPr>
        <p:txBody>
          <a:bodyPr/>
          <a:lstStyle/>
          <a:p>
            <a:r>
              <a:rPr lang="en-GB" dirty="0"/>
              <a:t>Basic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124744"/>
            <a:ext cx="7772400" cy="5256584"/>
          </a:xfrm>
        </p:spPr>
        <p:txBody>
          <a:bodyPr/>
          <a:lstStyle/>
          <a:p>
            <a:r>
              <a:rPr lang="en-GB" sz="2000" dirty="0"/>
              <a:t>As many combination of methods (specially feature extraction and classifiers)</a:t>
            </a:r>
          </a:p>
          <a:p>
            <a:pPr lvl="1"/>
            <a:r>
              <a:rPr lang="en-GB" sz="1800" dirty="0"/>
              <a:t>The final performance does not determine the mark</a:t>
            </a:r>
          </a:p>
          <a:p>
            <a:r>
              <a:rPr lang="en-GB" sz="2000" dirty="0"/>
              <a:t>Correct experimental setup</a:t>
            </a:r>
          </a:p>
          <a:p>
            <a:r>
              <a:rPr lang="en-GB" sz="2000" dirty="0"/>
              <a:t>Correctly evaluated (quantitative data)</a:t>
            </a:r>
          </a:p>
          <a:p>
            <a:pPr lvl="1"/>
            <a:r>
              <a:rPr lang="en-GB" sz="1800" dirty="0"/>
              <a:t>Tables, graphs,…</a:t>
            </a:r>
          </a:p>
          <a:p>
            <a:r>
              <a:rPr lang="en-GB" sz="2000" dirty="0"/>
              <a:t>Good parameter setting</a:t>
            </a:r>
          </a:p>
          <a:p>
            <a:r>
              <a:rPr lang="en-GB" sz="2000" dirty="0"/>
              <a:t>Good analysis and explanation of results and decisions taken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lvl="1"/>
            <a:endParaRPr lang="en-GB" sz="18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134635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99" y="116633"/>
            <a:ext cx="7861849" cy="1008112"/>
          </a:xfrm>
        </p:spPr>
        <p:txBody>
          <a:bodyPr/>
          <a:lstStyle/>
          <a:p>
            <a:r>
              <a:rPr lang="en-GB" dirty="0"/>
              <a:t>Excellent system +Extra Credit</a:t>
            </a:r>
            <a:br>
              <a:rPr lang="en-GB" dirty="0"/>
            </a:br>
            <a:r>
              <a:rPr lang="en-GB" dirty="0"/>
              <a:t>(10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268760"/>
            <a:ext cx="7772400" cy="5256584"/>
          </a:xfrm>
        </p:spPr>
        <p:txBody>
          <a:bodyPr/>
          <a:lstStyle/>
          <a:p>
            <a:r>
              <a:rPr lang="en-GB" sz="2400" dirty="0"/>
              <a:t>Use of Boosting/bagging, Random trees or NN/DNN for classification</a:t>
            </a:r>
          </a:p>
          <a:p>
            <a:r>
              <a:rPr lang="en-GB" sz="2400" dirty="0"/>
              <a:t>Cross validation (leave one out) as experimental setup</a:t>
            </a:r>
          </a:p>
          <a:p>
            <a:r>
              <a:rPr lang="en-GB" sz="2400" dirty="0"/>
              <a:t>ROC curves to evaluate</a:t>
            </a:r>
          </a:p>
          <a:p>
            <a:r>
              <a:rPr lang="en-GB" sz="2400" dirty="0"/>
              <a:t>Explore your own feature extractor</a:t>
            </a:r>
          </a:p>
          <a:p>
            <a:r>
              <a:rPr lang="en-GB" sz="2400" dirty="0"/>
              <a:t>Part-based detectors</a:t>
            </a:r>
          </a:p>
          <a:p>
            <a:r>
              <a:rPr lang="en-GB" sz="2400" dirty="0"/>
              <a:t>Tracking by detection</a:t>
            </a:r>
          </a:p>
          <a:p>
            <a:pPr marL="0" indent="0">
              <a:buNone/>
            </a:pPr>
            <a:endParaRPr lang="en-GB" sz="2400" dirty="0"/>
          </a:p>
          <a:p>
            <a:pPr lvl="1"/>
            <a:endParaRPr lang="en-GB" sz="20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83523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16632"/>
            <a:ext cx="8514272" cy="1030510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Initial Demo   (10%)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196752"/>
            <a:ext cx="7772400" cy="5472608"/>
          </a:xfrm>
        </p:spPr>
        <p:txBody>
          <a:bodyPr/>
          <a:lstStyle/>
          <a:p>
            <a:r>
              <a:rPr lang="en-GB" sz="2000" dirty="0"/>
              <a:t>Date: 12</a:t>
            </a:r>
            <a:r>
              <a:rPr lang="en-GB" sz="2000" baseline="30000" dirty="0"/>
              <a:t>th</a:t>
            </a:r>
            <a:r>
              <a:rPr lang="en-GB" sz="2000" dirty="0"/>
              <a:t> -14</a:t>
            </a:r>
            <a:r>
              <a:rPr lang="en-GB" sz="2000" baseline="30000" dirty="0"/>
              <a:t>th</a:t>
            </a:r>
            <a:r>
              <a:rPr lang="en-GB" sz="2000" dirty="0"/>
              <a:t> November</a:t>
            </a:r>
          </a:p>
          <a:p>
            <a:pPr lvl="1"/>
            <a:r>
              <a:rPr lang="en-GB" sz="1400" dirty="0"/>
              <a:t>With </a:t>
            </a:r>
            <a:r>
              <a:rPr lang="en-GB" sz="1400" dirty="0" err="1"/>
              <a:t>Baharak</a:t>
            </a:r>
            <a:r>
              <a:rPr lang="en-GB" sz="1400" dirty="0"/>
              <a:t> or me or a demonstrator</a:t>
            </a:r>
          </a:p>
          <a:p>
            <a:pPr lvl="1"/>
            <a:r>
              <a:rPr lang="en-GB" sz="1400" dirty="0"/>
              <a:t>10 min per group</a:t>
            </a:r>
          </a:p>
          <a:p>
            <a:pPr lvl="1"/>
            <a:r>
              <a:rPr lang="en-GB" sz="1400" dirty="0"/>
              <a:t>Using Ms Teams</a:t>
            </a:r>
          </a:p>
          <a:p>
            <a:r>
              <a:rPr lang="en-GB" sz="2000" dirty="0"/>
              <a:t>Formative and summative</a:t>
            </a:r>
          </a:p>
          <a:p>
            <a:pPr lvl="1"/>
            <a:r>
              <a:rPr lang="en-GB" sz="1400" dirty="0"/>
              <a:t>Opportunity to get feedback on your progress, alternative things to try, what to do until final submission, etc..</a:t>
            </a:r>
          </a:p>
          <a:p>
            <a:pPr lvl="1"/>
            <a:r>
              <a:rPr lang="en-GB" sz="1400" dirty="0"/>
              <a:t>You will get a marking template and written feedback</a:t>
            </a:r>
          </a:p>
          <a:p>
            <a:pPr lvl="1"/>
            <a:r>
              <a:rPr lang="en-GB" sz="1400" dirty="0"/>
              <a:t>10% of the final mark</a:t>
            </a:r>
          </a:p>
          <a:p>
            <a:r>
              <a:rPr lang="en-GB" sz="1600" dirty="0"/>
              <a:t>Goal and expectations:</a:t>
            </a:r>
          </a:p>
          <a:p>
            <a:pPr lvl="1"/>
            <a:r>
              <a:rPr lang="en-GB" sz="1200" dirty="0"/>
              <a:t>Show real progress at that stage. Results of some initial combinations of </a:t>
            </a:r>
            <a:r>
              <a:rPr lang="en-GB" sz="1200" dirty="0" err="1"/>
              <a:t>features+classifiers</a:t>
            </a:r>
            <a:r>
              <a:rPr lang="en-GB" sz="1200" dirty="0"/>
              <a:t>, initial attempt to the detector, parameter tuning,….</a:t>
            </a:r>
          </a:p>
          <a:p>
            <a:pPr lvl="2"/>
            <a:r>
              <a:rPr lang="en-GB" sz="900" dirty="0"/>
              <a:t>Prac4 and 5 completed give you a good baseline</a:t>
            </a:r>
          </a:p>
          <a:p>
            <a:pPr lvl="2"/>
            <a:r>
              <a:rPr lang="en-GB" sz="900" dirty="0"/>
              <a:t>The more, the better</a:t>
            </a:r>
          </a:p>
          <a:p>
            <a:pPr lvl="1"/>
            <a:r>
              <a:rPr lang="en-GB" sz="1200" dirty="0"/>
              <a:t>You will need to submit the presented slide deck, tables, results etc..</a:t>
            </a:r>
          </a:p>
          <a:p>
            <a:pPr lvl="2"/>
            <a:r>
              <a:rPr lang="en-GB" sz="900" dirty="0"/>
              <a:t>The more professional the better</a:t>
            </a:r>
          </a:p>
          <a:p>
            <a:endParaRPr lang="en-GB" sz="2000" dirty="0"/>
          </a:p>
          <a:p>
            <a:pPr lvl="1"/>
            <a:endParaRPr lang="en-GB" sz="18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8790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16632"/>
            <a:ext cx="8514272" cy="1030510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Deliverables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340768"/>
            <a:ext cx="7772400" cy="3585030"/>
          </a:xfrm>
        </p:spPr>
        <p:txBody>
          <a:bodyPr/>
          <a:lstStyle/>
          <a:p>
            <a:r>
              <a:rPr lang="en-GB" dirty="0"/>
              <a:t>Written report  (4</a:t>
            </a:r>
            <a:r>
              <a:rPr lang="en-GB" baseline="30000" dirty="0"/>
              <a:t>th</a:t>
            </a:r>
            <a:r>
              <a:rPr lang="en-GB" dirty="0"/>
              <a:t> December)</a:t>
            </a:r>
          </a:p>
          <a:p>
            <a:endParaRPr lang="en-GB" dirty="0"/>
          </a:p>
          <a:p>
            <a:r>
              <a:rPr lang="en-GB" dirty="0"/>
              <a:t>Code (4</a:t>
            </a:r>
            <a:r>
              <a:rPr lang="en-GB" baseline="30000" dirty="0"/>
              <a:t>th</a:t>
            </a:r>
            <a:r>
              <a:rPr lang="en-GB" dirty="0"/>
              <a:t> December)</a:t>
            </a:r>
          </a:p>
          <a:p>
            <a:endParaRPr lang="en-GB" dirty="0"/>
          </a:p>
          <a:p>
            <a:r>
              <a:rPr lang="en-GB" dirty="0"/>
              <a:t>Peer Assessment (5</a:t>
            </a:r>
            <a:r>
              <a:rPr lang="en-GB" baseline="30000" dirty="0"/>
              <a:t>th</a:t>
            </a:r>
            <a:r>
              <a:rPr lang="en-GB" dirty="0"/>
              <a:t> December)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ight Brace 3"/>
          <p:cNvSpPr/>
          <p:nvPr/>
        </p:nvSpPr>
        <p:spPr bwMode="auto">
          <a:xfrm>
            <a:off x="7659933" y="1484785"/>
            <a:ext cx="348343" cy="504056"/>
          </a:xfrm>
          <a:prstGeom prst="rightBrac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08276" y="1413647"/>
            <a:ext cx="1553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Through Canvas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9ED26C5-DD1F-CF7C-B28C-3986A1F98018}"/>
              </a:ext>
            </a:extLst>
          </p:cNvPr>
          <p:cNvSpPr/>
          <p:nvPr/>
        </p:nvSpPr>
        <p:spPr bwMode="auto">
          <a:xfrm>
            <a:off x="7659933" y="4393360"/>
            <a:ext cx="348343" cy="504056"/>
          </a:xfrm>
          <a:prstGeom prst="rightBrac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245E1-9327-C3CB-6D89-082FEA57E9CC}"/>
              </a:ext>
            </a:extLst>
          </p:cNvPr>
          <p:cNvSpPr txBox="1"/>
          <p:nvPr/>
        </p:nvSpPr>
        <p:spPr>
          <a:xfrm>
            <a:off x="8008276" y="4277356"/>
            <a:ext cx="1553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Through Canvas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D82995E0-59FE-769D-7E06-E52B559AB500}"/>
              </a:ext>
            </a:extLst>
          </p:cNvPr>
          <p:cNvSpPr/>
          <p:nvPr/>
        </p:nvSpPr>
        <p:spPr bwMode="auto">
          <a:xfrm>
            <a:off x="7658725" y="2924944"/>
            <a:ext cx="348343" cy="504056"/>
          </a:xfrm>
          <a:prstGeom prst="rightBrac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25FFBC-CFD5-9E17-E10F-DE437858C9CA}"/>
              </a:ext>
            </a:extLst>
          </p:cNvPr>
          <p:cNvSpPr txBox="1"/>
          <p:nvPr/>
        </p:nvSpPr>
        <p:spPr>
          <a:xfrm>
            <a:off x="8007068" y="2808939"/>
            <a:ext cx="113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Gitlab Repo</a:t>
            </a:r>
          </a:p>
        </p:txBody>
      </p:sp>
    </p:spTree>
    <p:extLst>
      <p:ext uri="{BB962C8B-B14F-4D97-AF65-F5344CB8AC3E}">
        <p14:creationId xmlns:p14="http://schemas.microsoft.com/office/powerpoint/2010/main" val="3149206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16632"/>
            <a:ext cx="8514272" cy="1030510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Report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657" y="1124744"/>
            <a:ext cx="7772400" cy="4659086"/>
          </a:xfrm>
        </p:spPr>
        <p:txBody>
          <a:bodyPr/>
          <a:lstStyle/>
          <a:p>
            <a:r>
              <a:rPr lang="en-GB" dirty="0"/>
              <a:t>In order to obtain all the points in each section, the report must be clear and explain and justify </a:t>
            </a:r>
            <a:r>
              <a:rPr lang="en-GB" b="1" dirty="0"/>
              <a:t>each</a:t>
            </a:r>
            <a:r>
              <a:rPr lang="en-GB" dirty="0"/>
              <a:t> decision</a:t>
            </a:r>
          </a:p>
          <a:p>
            <a:pPr lvl="1"/>
            <a:r>
              <a:rPr lang="en-GB" dirty="0"/>
              <a:t>Good structure</a:t>
            </a:r>
          </a:p>
          <a:p>
            <a:pPr lvl="1"/>
            <a:r>
              <a:rPr lang="en-GB" dirty="0"/>
              <a:t>Logical order: training, testing, etc…</a:t>
            </a:r>
          </a:p>
          <a:p>
            <a:pPr lvl="1"/>
            <a:r>
              <a:rPr lang="en-GB" dirty="0"/>
              <a:t>The more pictures and tables with results, the better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5508104" y="5373215"/>
            <a:ext cx="363589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2000" u="sng" dirty="0">
                <a:latin typeface="Arial" pitchFamily="34" charset="0"/>
                <a:cs typeface="Arial" pitchFamily="34" charset="0"/>
              </a:rPr>
              <a:t>Module guide</a:t>
            </a:r>
          </a:p>
          <a:p>
            <a:pPr algn="l"/>
            <a:r>
              <a:rPr lang="en-GB" sz="2000" dirty="0">
                <a:latin typeface="Arial" pitchFamily="34" charset="0"/>
                <a:cs typeface="Arial" pitchFamily="34" charset="0"/>
              </a:rPr>
              <a:t>   Skills:</a:t>
            </a:r>
          </a:p>
          <a:p>
            <a:pPr algn="l"/>
            <a:r>
              <a:rPr lang="en-GB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n-GB" sz="2000" b="1" dirty="0">
                <a:solidFill>
                  <a:srgbClr val="92D050"/>
                </a:solidFill>
                <a:latin typeface="Arial" pitchFamily="34" charset="0"/>
                <a:cs typeface="Arial" pitchFamily="34" charset="0"/>
              </a:rPr>
              <a:t>1. Communication</a:t>
            </a:r>
            <a:r>
              <a:rPr lang="en-GB" sz="2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br>
              <a:rPr lang="en-GB" sz="2000" dirty="0">
                <a:latin typeface="Arial" pitchFamily="34" charset="0"/>
                <a:cs typeface="Arial" pitchFamily="34" charset="0"/>
              </a:rPr>
            </a:br>
            <a:r>
              <a:rPr lang="en-GB" sz="2000" dirty="0">
                <a:latin typeface="Arial" pitchFamily="34" charset="0"/>
                <a:cs typeface="Arial" pitchFamily="34" charset="0"/>
              </a:rPr>
              <a:t>	5. Working with others</a:t>
            </a:r>
          </a:p>
          <a:p>
            <a:pPr algn="l"/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442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16632"/>
            <a:ext cx="8136904" cy="1030510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Code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340768"/>
            <a:ext cx="7772400" cy="2583543"/>
          </a:xfrm>
        </p:spPr>
        <p:txBody>
          <a:bodyPr/>
          <a:lstStyle/>
          <a:p>
            <a:r>
              <a:rPr lang="en-GB" sz="2000" dirty="0"/>
              <a:t>I must be able to run it</a:t>
            </a:r>
          </a:p>
          <a:p>
            <a:pPr lvl="1"/>
            <a:r>
              <a:rPr lang="en-GB" sz="1800" dirty="0"/>
              <a:t>And understand your code</a:t>
            </a:r>
          </a:p>
          <a:p>
            <a:pPr lvl="2"/>
            <a:r>
              <a:rPr lang="en-GB" sz="1400" dirty="0"/>
              <a:t>Comments</a:t>
            </a:r>
          </a:p>
          <a:p>
            <a:pPr lvl="2"/>
            <a:r>
              <a:rPr lang="en-GB" sz="1400" dirty="0"/>
              <a:t>Good structure</a:t>
            </a:r>
          </a:p>
          <a:p>
            <a:r>
              <a:rPr lang="en-GB" sz="2000" dirty="0" err="1"/>
              <a:t>Gitlab</a:t>
            </a:r>
            <a:r>
              <a:rPr lang="en-GB" sz="2000" dirty="0"/>
              <a:t> - Compulsory</a:t>
            </a:r>
          </a:p>
          <a:p>
            <a:pPr lvl="1"/>
            <a:r>
              <a:rPr lang="en-GB" sz="1800" dirty="0"/>
              <a:t>I will provide you a git per group in the next few days</a:t>
            </a:r>
          </a:p>
          <a:p>
            <a:pPr lvl="1"/>
            <a:r>
              <a:rPr lang="en-GB" sz="1800" dirty="0"/>
              <a:t>Code</a:t>
            </a:r>
          </a:p>
          <a:p>
            <a:pPr lvl="1"/>
            <a:r>
              <a:rPr lang="en-GB" sz="1800" dirty="0"/>
              <a:t>Videos of your results</a:t>
            </a:r>
          </a:p>
          <a:p>
            <a:r>
              <a:rPr lang="en-GB" sz="2000" dirty="0"/>
              <a:t>I should obtain the same results that in the report </a:t>
            </a:r>
          </a:p>
          <a:p>
            <a:pPr lvl="1"/>
            <a:r>
              <a:rPr lang="en-GB" sz="1800" dirty="0"/>
              <a:t>Not all the intermediate results,  but the final ones</a:t>
            </a:r>
          </a:p>
          <a:p>
            <a:pPr lvl="1"/>
            <a:endParaRPr lang="en-GB" sz="1800" dirty="0"/>
          </a:p>
          <a:p>
            <a:pPr lvl="1"/>
            <a:endParaRPr lang="en-GB" sz="1800" dirty="0"/>
          </a:p>
          <a:p>
            <a:pPr lvl="1"/>
            <a:endParaRPr lang="en-GB" sz="1800" dirty="0"/>
          </a:p>
          <a:p>
            <a:pPr lvl="1"/>
            <a:endParaRPr lang="en-GB" sz="18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605653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Peer Assessment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976064" y="1250830"/>
            <a:ext cx="7772400" cy="4845170"/>
          </a:xfrm>
        </p:spPr>
        <p:txBody>
          <a:bodyPr/>
          <a:lstStyle/>
          <a:p>
            <a:r>
              <a:rPr lang="en-GB" sz="2400" dirty="0"/>
              <a:t>Professional behaviour</a:t>
            </a:r>
          </a:p>
          <a:p>
            <a:pPr lvl="1"/>
            <a:r>
              <a:rPr lang="en-GB" sz="2000" dirty="0"/>
              <a:t>Respect to the others</a:t>
            </a:r>
          </a:p>
          <a:p>
            <a:pPr lvl="1"/>
            <a:r>
              <a:rPr lang="en-GB" sz="2000" dirty="0"/>
              <a:t>Me as a moderator. Raise issues as soon as possible.</a:t>
            </a:r>
          </a:p>
          <a:p>
            <a:r>
              <a:rPr lang="en-GB" sz="2400" dirty="0">
                <a:solidFill>
                  <a:srgbClr val="FF0000"/>
                </a:solidFill>
              </a:rPr>
              <a:t>WARNING!! </a:t>
            </a:r>
            <a:r>
              <a:rPr lang="en-GB" sz="2400" dirty="0"/>
              <a:t>All the members are supposed to contribute in all the aspects</a:t>
            </a:r>
          </a:p>
          <a:p>
            <a:r>
              <a:rPr lang="en-GB" sz="2400" dirty="0"/>
              <a:t>Criteria: 4 marks (out of 10) in 4 categories</a:t>
            </a:r>
          </a:p>
          <a:p>
            <a:pPr lvl="1"/>
            <a:r>
              <a:rPr lang="en-GB" sz="2000" dirty="0"/>
              <a:t>Design, Implementation, Testing, Report</a:t>
            </a:r>
          </a:p>
          <a:p>
            <a:pPr lvl="1"/>
            <a:r>
              <a:rPr lang="en-GB" sz="2000" dirty="0"/>
              <a:t>Give also a general comment summary (1 paragraph)</a:t>
            </a:r>
          </a:p>
          <a:p>
            <a:pPr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514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 bldLvl="2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Peer Assessment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74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6064" y="1250830"/>
                <a:ext cx="7772400" cy="4845170"/>
              </a:xfrm>
            </p:spPr>
            <p:txBody>
              <a:bodyPr/>
              <a:lstStyle/>
              <a:p>
                <a:r>
                  <a:rPr lang="en-GB" dirty="0"/>
                  <a:t>Peer assessment </a:t>
                </a:r>
              </a:p>
              <a:p>
                <a:pPr lvl="1"/>
                <a:r>
                  <a:rPr lang="en-GB" dirty="0"/>
                  <a:t>Mark </a:t>
                </a:r>
                <a:r>
                  <a:rPr lang="en-GB" i="1" dirty="0"/>
                  <a:t>M</a:t>
                </a:r>
                <a:r>
                  <a:rPr lang="en-GB" dirty="0"/>
                  <a:t> given by the moderator</a:t>
                </a:r>
              </a:p>
              <a:p>
                <a:pPr lvl="1"/>
                <a:r>
                  <a:rPr lang="en-GB" dirty="0"/>
                  <a:t>Individual mark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GB" i="1" dirty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/>
                      </a:rPr>
                      <m:t>=</m:t>
                    </m:r>
                    <m:r>
                      <a:rPr lang="en-GB" i="1" dirty="0">
                        <a:latin typeface="Cambria Math"/>
                      </a:rPr>
                      <m:t>𝑀</m:t>
                    </m:r>
                    <m:r>
                      <a:rPr lang="en-GB" i="1" dirty="0">
                        <a:latin typeface="Cambria Math"/>
                      </a:rPr>
                      <m:t>/2+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/>
                      </a:rPr>
                      <m:t>∗</m:t>
                    </m:r>
                    <m:r>
                      <a:rPr lang="en-GB" i="1" dirty="0">
                        <a:latin typeface="Cambria Math"/>
                      </a:rPr>
                      <m:t>𝑀</m:t>
                    </m:r>
                    <m:r>
                      <a:rPr lang="en-GB" i="1" dirty="0">
                        <a:latin typeface="Cambria Math"/>
                      </a:rPr>
                      <m:t>/2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calculated by members marking anonymously.</a:t>
                </a:r>
              </a:p>
              <a:p>
                <a:pPr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597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6064" y="1250830"/>
                <a:ext cx="7772400" cy="4845170"/>
              </a:xfrm>
              <a:blipFill>
                <a:blip r:embed="rId3"/>
                <a:stretch>
                  <a:fillRect l="-4000" t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881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Peer Assessment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971600" y="1250830"/>
            <a:ext cx="7772400" cy="4845170"/>
          </a:xfrm>
        </p:spPr>
        <p:txBody>
          <a:bodyPr/>
          <a:lstStyle/>
          <a:p>
            <a:r>
              <a:rPr lang="en-GB" sz="2400" dirty="0"/>
              <a:t>Hanna’s Formula</a:t>
            </a:r>
            <a:endParaRPr lang="en-GB" sz="2000" dirty="0"/>
          </a:p>
          <a:p>
            <a:endParaRPr lang="en-GB" sz="1400" dirty="0"/>
          </a:p>
          <a:p>
            <a:r>
              <a:rPr lang="en-GB" sz="2400" dirty="0"/>
              <a:t>Example:  3 member, M=15</a:t>
            </a:r>
          </a:p>
          <a:p>
            <a:pPr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53893" y="1250830"/>
                <a:ext cx="1873077" cy="9230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893" y="1250830"/>
                <a:ext cx="1873077" cy="9230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88071" y="3013209"/>
            <a:ext cx="303150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l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Member 2 about Member 1</a:t>
            </a:r>
          </a:p>
          <a:p>
            <a:pPr lvl="1" algn="l"/>
            <a:r>
              <a:rPr lang="en-GB" sz="2000" dirty="0"/>
              <a:t>    Design =8</a:t>
            </a:r>
          </a:p>
          <a:p>
            <a:pPr lvl="1" algn="l"/>
            <a:r>
              <a:rPr lang="en-GB" sz="2000" dirty="0"/>
              <a:t>    Implementation=7</a:t>
            </a:r>
          </a:p>
          <a:p>
            <a:pPr lvl="1" algn="l"/>
            <a:r>
              <a:rPr lang="en-GB" sz="2000" dirty="0"/>
              <a:t>    Testing=7</a:t>
            </a:r>
          </a:p>
          <a:p>
            <a:pPr lvl="1" algn="l"/>
            <a:r>
              <a:rPr lang="en-GB" sz="2000" dirty="0"/>
              <a:t>    Report=9</a:t>
            </a:r>
          </a:p>
          <a:p>
            <a:pPr lvl="1" algn="l"/>
            <a:r>
              <a:rPr lang="en-GB" sz="2000" b="1" dirty="0"/>
              <a:t>    Total =31</a:t>
            </a:r>
          </a:p>
          <a:p>
            <a:pPr algn="l"/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876972" y="3002796"/>
            <a:ext cx="4572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l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Member 3 about Member 1</a:t>
            </a:r>
          </a:p>
          <a:p>
            <a:pPr lvl="1" algn="l"/>
            <a:r>
              <a:rPr lang="en-GB" sz="2000" dirty="0"/>
              <a:t>    Design =7</a:t>
            </a:r>
          </a:p>
          <a:p>
            <a:pPr lvl="1" algn="l"/>
            <a:r>
              <a:rPr lang="en-GB" sz="2000" dirty="0"/>
              <a:t>    Implementation=7</a:t>
            </a:r>
          </a:p>
          <a:p>
            <a:pPr lvl="1" algn="l"/>
            <a:r>
              <a:rPr lang="en-GB" sz="2000" dirty="0"/>
              <a:t>    Testing=7</a:t>
            </a:r>
          </a:p>
          <a:p>
            <a:pPr lvl="1" algn="l"/>
            <a:r>
              <a:rPr lang="en-GB" sz="2000" dirty="0"/>
              <a:t>    Report=8</a:t>
            </a:r>
          </a:p>
          <a:p>
            <a:pPr lvl="1" algn="l"/>
            <a:r>
              <a:rPr lang="en-GB" sz="2000" b="1" dirty="0"/>
              <a:t>    Total=29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5013" y="4479641"/>
            <a:ext cx="1901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</a:t>
            </a:r>
            <a:r>
              <a:rPr lang="en-GB" sz="1600" dirty="0"/>
              <a:t>1</a:t>
            </a:r>
            <a:r>
              <a:rPr lang="en-GB" dirty="0"/>
              <a:t>=31+29=60</a:t>
            </a:r>
          </a:p>
        </p:txBody>
      </p:sp>
      <p:sp>
        <p:nvSpPr>
          <p:cNvPr id="6" name="Right Arrow 5"/>
          <p:cNvSpPr/>
          <p:nvPr/>
        </p:nvSpPr>
        <p:spPr bwMode="auto">
          <a:xfrm>
            <a:off x="6478254" y="4581204"/>
            <a:ext cx="435429" cy="230272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52122" y="5059919"/>
                <a:ext cx="5837159" cy="664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GB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GB" sz="2400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4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/>
                          </a:rPr>
                          <m:t>)/3</m:t>
                        </m:r>
                      </m:den>
                    </m:f>
                  </m:oMath>
                </a14:m>
                <a:r>
                  <a:rPr lang="en-GB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/>
                          </a:rPr>
                          <m:t>60</m:t>
                        </m:r>
                      </m:num>
                      <m:den>
                        <m:r>
                          <a:rPr lang="en-GB" sz="2400" i="1">
                            <a:latin typeface="Cambria Math"/>
                          </a:rPr>
                          <m:t>(</m:t>
                        </m:r>
                        <m:r>
                          <a:rPr lang="en-GB" sz="2400" b="0" i="1" smtClean="0">
                            <a:latin typeface="Cambria Math"/>
                          </a:rPr>
                          <m:t>60</m:t>
                        </m:r>
                        <m:r>
                          <a:rPr lang="en-GB" sz="2400" i="1">
                            <a:latin typeface="Cambria Math"/>
                          </a:rPr>
                          <m:t>+</m:t>
                        </m:r>
                        <m:r>
                          <a:rPr lang="en-GB" sz="2400" b="0" i="1" smtClean="0">
                            <a:latin typeface="Cambria Math"/>
                          </a:rPr>
                          <m:t>58</m:t>
                        </m:r>
                        <m:r>
                          <a:rPr lang="en-GB" sz="2400" i="1">
                            <a:latin typeface="Cambria Math"/>
                          </a:rPr>
                          <m:t>+</m:t>
                        </m:r>
                        <m:r>
                          <a:rPr lang="en-GB" sz="2400" b="0" i="1" smtClean="0">
                            <a:latin typeface="Cambria Math"/>
                          </a:rPr>
                          <m:t>66</m:t>
                        </m:r>
                        <m:r>
                          <a:rPr lang="en-GB" sz="2400" i="1">
                            <a:latin typeface="Cambria Math"/>
                          </a:rPr>
                          <m:t>)/3</m:t>
                        </m:r>
                      </m:den>
                    </m:f>
                  </m:oMath>
                </a14:m>
                <a:r>
                  <a:rPr lang="en-GB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i="1">
                            <a:latin typeface="Cambria Math"/>
                          </a:rPr>
                          <m:t>60</m:t>
                        </m:r>
                      </m:num>
                      <m:den>
                        <m:r>
                          <a:rPr lang="en-GB" sz="2400" i="1">
                            <a:latin typeface="Cambria Math"/>
                          </a:rPr>
                          <m:t>6</m:t>
                        </m:r>
                        <m:r>
                          <a:rPr lang="en-GB" sz="2400" b="0" i="1" smtClean="0">
                            <a:latin typeface="Cambria Math"/>
                          </a:rPr>
                          <m:t>1.3</m:t>
                        </m:r>
                      </m:den>
                    </m:f>
                    <m:r>
                      <a:rPr lang="en-GB" sz="2400" b="0" i="1" smtClean="0">
                        <a:latin typeface="Cambria Math"/>
                      </a:rPr>
                      <m:t>=0.97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122" y="5059919"/>
                <a:ext cx="5837159" cy="664477"/>
              </a:xfrm>
              <a:prstGeom prst="rect">
                <a:avLst/>
              </a:prstGeom>
              <a:blipFill rotWithShape="0">
                <a:blip r:embed="rId4"/>
                <a:stretch>
                  <a:fillRect b="-91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252122" y="5883024"/>
                <a:ext cx="5837159" cy="791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/>
                            </a:rPr>
                            <m:t>15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2400" b="0" i="1" smtClean="0">
                          <a:latin typeface="Cambria Math"/>
                        </a:rPr>
                        <m:t>+0.97∗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/>
                            </a:rPr>
                            <m:t>15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2400" b="0" i="1" smtClean="0">
                          <a:latin typeface="Cambria Math"/>
                        </a:rPr>
                        <m:t>=14.7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122" y="5883024"/>
                <a:ext cx="5837159" cy="79130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23034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 bldLvl="2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44624"/>
            <a:ext cx="8064896" cy="1030510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Issues </a:t>
            </a:r>
            <a:r>
              <a:rPr lang="en-GB"/>
              <a:t>and demo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268760"/>
            <a:ext cx="8064896" cy="4528457"/>
          </a:xfrm>
        </p:spPr>
        <p:txBody>
          <a:bodyPr/>
          <a:lstStyle/>
          <a:p>
            <a:r>
              <a:rPr lang="en-GB" dirty="0"/>
              <a:t>Raise group problems as soon as possible</a:t>
            </a:r>
            <a:endParaRPr lang="en-GB" sz="2400" dirty="0"/>
          </a:p>
          <a:p>
            <a:r>
              <a:rPr lang="en-GB" sz="2400" dirty="0"/>
              <a:t>Moderating the mark</a:t>
            </a:r>
          </a:p>
          <a:p>
            <a:pPr lvl="1"/>
            <a:r>
              <a:rPr lang="en-GB" sz="2000" dirty="0"/>
              <a:t>Analysing group member contribution</a:t>
            </a:r>
          </a:p>
          <a:p>
            <a:pPr lvl="1"/>
            <a:r>
              <a:rPr lang="en-GB" sz="2000" dirty="0"/>
              <a:t>Use </a:t>
            </a:r>
            <a:r>
              <a:rPr lang="en-GB" sz="2000" dirty="0" err="1"/>
              <a:t>Gitlab</a:t>
            </a:r>
            <a:r>
              <a:rPr lang="en-GB" sz="2000" dirty="0"/>
              <a:t> to measure individual contributions</a:t>
            </a:r>
          </a:p>
          <a:p>
            <a:pPr lvl="1"/>
            <a:r>
              <a:rPr lang="en-GB" sz="2000" dirty="0"/>
              <a:t>I keep the right to fully remark individuals and groups</a:t>
            </a:r>
          </a:p>
          <a:p>
            <a:r>
              <a:rPr lang="en-GB" sz="2400" dirty="0"/>
              <a:t>If needed a group interview will be called</a:t>
            </a:r>
          </a:p>
          <a:p>
            <a:pPr lvl="1"/>
            <a:r>
              <a:rPr lang="en-GB" sz="2000" dirty="0"/>
              <a:t>All members of the group should be present</a:t>
            </a:r>
          </a:p>
          <a:p>
            <a:pPr lvl="1"/>
            <a:r>
              <a:rPr lang="en-GB" sz="2000" dirty="0"/>
              <a:t>We will agree a date</a:t>
            </a:r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23557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b4f31f76-fbf8-425d-b0de-330295e5d3f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QUBCS2011">
  <a:themeElements>
    <a:clrScheme name="CBL7010 1">
      <a:dk1>
        <a:sysClr val="windowText" lastClr="000000"/>
      </a:dk1>
      <a:lt1>
        <a:sysClr val="window" lastClr="FFFFFF"/>
      </a:lt1>
      <a:dk2>
        <a:srgbClr val="06443F"/>
      </a:dk2>
      <a:lt2>
        <a:srgbClr val="DBF5F9"/>
      </a:lt2>
      <a:accent1>
        <a:srgbClr val="0D4248"/>
      </a:accent1>
      <a:accent2>
        <a:srgbClr val="167681"/>
      </a:accent2>
      <a:accent3>
        <a:srgbClr val="800000"/>
      </a:accent3>
      <a:accent4>
        <a:srgbClr val="99D237"/>
      </a:accent4>
      <a:accent5>
        <a:srgbClr val="005BB5"/>
      </a:accent5>
      <a:accent6>
        <a:srgbClr val="0080FF"/>
      </a:accent6>
      <a:hlink>
        <a:srgbClr val="06443F"/>
      </a:hlink>
      <a:folHlink>
        <a:srgbClr val="99D2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QUBCS2011</Template>
  <TotalTime>4891</TotalTime>
  <Words>1642</Words>
  <Application>Microsoft Office PowerPoint</Application>
  <PresentationFormat>On-screen Show (4:3)</PresentationFormat>
  <Paragraphs>318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Cambria Math</vt:lpstr>
      <vt:lpstr>Times New Roman</vt:lpstr>
      <vt:lpstr>Verdana</vt:lpstr>
      <vt:lpstr>Wingdings</vt:lpstr>
      <vt:lpstr>QUBCS2011</vt:lpstr>
      <vt:lpstr>CSC3067 </vt:lpstr>
      <vt:lpstr>Learning outcomes</vt:lpstr>
      <vt:lpstr>Learning outcomes</vt:lpstr>
      <vt:lpstr>Assessment - Coursework</vt:lpstr>
      <vt:lpstr>Critical Analysis</vt:lpstr>
      <vt:lpstr>Assistance</vt:lpstr>
      <vt:lpstr>Topic</vt:lpstr>
      <vt:lpstr>Pedestrian Detector</vt:lpstr>
      <vt:lpstr>Training the automatic system (32 marks)</vt:lpstr>
      <vt:lpstr>Testing the classification system (21 marks)</vt:lpstr>
      <vt:lpstr>Detection implementation (37 marks)</vt:lpstr>
      <vt:lpstr> Available code </vt:lpstr>
      <vt:lpstr>Basic System</vt:lpstr>
      <vt:lpstr>Excellent system +Extra Credit (10 Marks)</vt:lpstr>
      <vt:lpstr> Initial Demo   (10%) </vt:lpstr>
      <vt:lpstr> Deliverables </vt:lpstr>
      <vt:lpstr> Report </vt:lpstr>
      <vt:lpstr> Code </vt:lpstr>
      <vt:lpstr>Peer Assessment</vt:lpstr>
      <vt:lpstr>Peer Assessment</vt:lpstr>
      <vt:lpstr>Peer Assessment</vt:lpstr>
      <vt:lpstr> Issues and demo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Programming</dc:title>
  <dc:creator>Angela Doherty</dc:creator>
  <cp:lastModifiedBy>Jesus Martinez del Rincon</cp:lastModifiedBy>
  <cp:revision>262</cp:revision>
  <dcterms:created xsi:type="dcterms:W3CDTF">2012-02-08T20:43:14Z</dcterms:created>
  <dcterms:modified xsi:type="dcterms:W3CDTF">2025-10-23T23:20:12Z</dcterms:modified>
</cp:coreProperties>
</file>